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4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hoGKVv1FfZr2UH6AaQ9xtjdAABj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0BC39BE-2890-48C1-93AC-A100E66445B5}">
  <a:tblStyle styleId="{C0BC39BE-2890-48C1-93AC-A100E66445B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04" d="100"/>
          <a:sy n="104" d="100"/>
        </p:scale>
        <p:origin x="232" y="5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CL"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0" name="Google Shape;17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1" name="Google Shape;18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6" name="Google Shape;18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3" name="Google Shape;1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4" name="Google Shape;20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5" name="Google Shape;21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4" name="Google Shape;22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2" name="Google Shape;24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5" name="Google Shape;25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8" name="Google Shape;2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7" name="Google Shape;2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9" name="Google Shape;29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1" name="Google Shape;32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3" name="Google Shape;34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5" name="Google Shape;36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6" name="Google Shape;38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8" name="Google Shape;40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0" name="Google Shape;430;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2" name="Google Shape;45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74" name="Google Shape;47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3" name="Google Shape;48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92" name="Google Shape;49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06" name="Google Shape;5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16" name="Google Shape;51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34" name="Google Shape;53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52" name="Google Shape;55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0" name="Google Shape;570;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
        <p:cNvGrpSpPr/>
        <p:nvPr/>
      </p:nvGrpSpPr>
      <p:grpSpPr>
        <a:xfrm>
          <a:off x="0" y="0"/>
          <a:ext cx="0" cy="0"/>
          <a:chOff x="0" y="0"/>
          <a:chExt cx="0" cy="0"/>
        </a:xfrm>
      </p:grpSpPr>
      <p:sp>
        <p:nvSpPr>
          <p:cNvPr id="587" name="Google Shape;587;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88" name="Google Shape;58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06" name="Google Shape;60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17" name="Google Shape;61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26" name="Google Shape;62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36" name="Google Shape;63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45" name="Google Shape;64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0" name="Google Shape;66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8" name="Google Shape;668;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74" name="Google Shape;67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7" name="Google Shape;17;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3" name="Google Shape;23;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4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9" name="Google Shape;29;p4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35" name="Google Shape;35;p4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4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42" name="Google Shape;42;p4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1" name="Google Shape;51;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0" name="Google Shape;60;p4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4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4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7" name="Google Shape;67;p49"/>
          <p:cNvSpPr>
            <a:spLocks noGrp="1"/>
          </p:cNvSpPr>
          <p:nvPr>
            <p:ph type="pic" idx="2"/>
          </p:nvPr>
        </p:nvSpPr>
        <p:spPr>
          <a:xfrm>
            <a:off x="5183188" y="987425"/>
            <a:ext cx="6172200" cy="4873625"/>
          </a:xfrm>
          <a:prstGeom prst="rect">
            <a:avLst/>
          </a:prstGeom>
          <a:noFill/>
          <a:ln>
            <a:noFill/>
          </a:ln>
        </p:spPr>
      </p:sp>
      <p:sp>
        <p:nvSpPr>
          <p:cNvPr id="68" name="Google Shape;68;p4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4" name="Google Shape;74;p5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5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0" name="Google Shape;80;p5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0"/>
        <p:cNvGrpSpPr/>
        <p:nvPr/>
      </p:nvGrpSpPr>
      <p:grpSpPr>
        <a:xfrm>
          <a:off x="0" y="0"/>
          <a:ext cx="0" cy="0"/>
          <a:chOff x="0" y="0"/>
          <a:chExt cx="0" cy="0"/>
        </a:xfrm>
      </p:grpSpPr>
      <p:sp>
        <p:nvSpPr>
          <p:cNvPr id="91" name="Google Shape;91;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2" name="Google Shape;92;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6"/>
        <p:cNvGrpSpPr/>
        <p:nvPr/>
      </p:nvGrpSpPr>
      <p:grpSpPr>
        <a:xfrm>
          <a:off x="0" y="0"/>
          <a:ext cx="0" cy="0"/>
          <a:chOff x="0" y="0"/>
          <a:chExt cx="0" cy="0"/>
        </a:xfrm>
      </p:grpSpPr>
      <p:sp>
        <p:nvSpPr>
          <p:cNvPr id="97" name="Google Shape;97;p5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8" name="Google Shape;98;p5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99" name="Google Shape;99;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5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4" name="Google Shape;104;p5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05" name="Google Shape;105;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5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5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5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7" name="Google Shape;117;p5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18" name="Google Shape;118;p5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5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0" name="Google Shape;120;p5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1" name="Google Shape;121;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24"/>
        <p:cNvGrpSpPr/>
        <p:nvPr/>
      </p:nvGrpSpPr>
      <p:grpSpPr>
        <a:xfrm>
          <a:off x="0" y="0"/>
          <a:ext cx="0" cy="0"/>
          <a:chOff x="0" y="0"/>
          <a:chExt cx="0" cy="0"/>
        </a:xfrm>
      </p:grpSpPr>
      <p:sp>
        <p:nvSpPr>
          <p:cNvPr id="125" name="Google Shape;125;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6" name="Google Shape;126;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5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35" name="Google Shape;135;p5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36" name="Google Shape;136;p5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37" name="Google Shape;137;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2" name="Google Shape;142;p59"/>
          <p:cNvSpPr>
            <a:spLocks noGrp="1"/>
          </p:cNvSpPr>
          <p:nvPr>
            <p:ph type="pic" idx="2"/>
          </p:nvPr>
        </p:nvSpPr>
        <p:spPr>
          <a:xfrm>
            <a:off x="5183188" y="987425"/>
            <a:ext cx="6172200" cy="4873625"/>
          </a:xfrm>
          <a:prstGeom prst="rect">
            <a:avLst/>
          </a:prstGeom>
          <a:noFill/>
          <a:ln>
            <a:noFill/>
          </a:ln>
        </p:spPr>
      </p:sp>
      <p:sp>
        <p:nvSpPr>
          <p:cNvPr id="143" name="Google Shape;143;p5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4" name="Google Shape;144;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49" name="Google Shape;149;p6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0" name="Google Shape;150;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6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55" name="Google Shape;155;p6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6" name="Google Shape;156;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Shape 84"/>
        <p:cNvGrpSpPr/>
        <p:nvPr/>
      </p:nvGrpSpPr>
      <p:grpSpPr>
        <a:xfrm>
          <a:off x="0" y="0"/>
          <a:ext cx="0" cy="0"/>
          <a:chOff x="0" y="0"/>
          <a:chExt cx="0" cy="0"/>
        </a:xfrm>
      </p:grpSpPr>
      <p:sp>
        <p:nvSpPr>
          <p:cNvPr id="85" name="Google Shape;85;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l" rtl="0">
              <a:lnSpc>
                <a:spcPct val="90000"/>
              </a:lnSpc>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86" name="Google Shape;86;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spcAft>
                <a:spcPts val="0"/>
              </a:spcAft>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1"/>
          <p:cNvSpPr/>
          <p:nvPr/>
        </p:nvSpPr>
        <p:spPr>
          <a:xfrm>
            <a:off x="4328374" y="3640183"/>
            <a:ext cx="7308567" cy="1428206"/>
          </a:xfrm>
          <a:prstGeom prst="roundRect">
            <a:avLst>
              <a:gd name="adj" fmla="val 7874"/>
            </a:avLst>
          </a:prstGeom>
          <a:solidFill>
            <a:schemeClr val="dk1">
              <a:alpha val="75686"/>
            </a:schemeClr>
          </a:solidFill>
          <a:ln>
            <a:noFill/>
          </a:ln>
        </p:spPr>
        <p:txBody>
          <a:bodyPr spcFirstLastPara="1" wrap="square" lIns="91425" tIns="45700" rIns="540000" bIns="45700" anchor="ctr" anchorCtr="0">
            <a:noAutofit/>
          </a:bodyPr>
          <a:lstStyle/>
          <a:p>
            <a:pPr marL="0" marR="0" lvl="0" indent="0" algn="ctr" rtl="0">
              <a:spcBef>
                <a:spcPts val="0"/>
              </a:spcBef>
              <a:spcAft>
                <a:spcPts val="0"/>
              </a:spcAft>
              <a:buNone/>
            </a:pPr>
            <a:endParaRPr sz="2800" b="1" i="0" u="none" strike="noStrike" cap="none">
              <a:solidFill>
                <a:schemeClr val="lt1"/>
              </a:solidFill>
              <a:latin typeface="Calibri"/>
              <a:ea typeface="Calibri"/>
              <a:cs typeface="Calibri"/>
              <a:sym typeface="Calibri"/>
            </a:endParaRPr>
          </a:p>
        </p:txBody>
      </p:sp>
      <p:sp>
        <p:nvSpPr>
          <p:cNvPr id="165" name="Google Shape;165;p1"/>
          <p:cNvSpPr/>
          <p:nvPr/>
        </p:nvSpPr>
        <p:spPr>
          <a:xfrm>
            <a:off x="4638566" y="5169315"/>
            <a:ext cx="6096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1" i="0" u="none" strike="noStrike" cap="none">
                <a:solidFill>
                  <a:srgbClr val="FFFFFF"/>
                </a:solidFill>
                <a:latin typeface="Arial"/>
                <a:ea typeface="Arial"/>
                <a:cs typeface="Arial"/>
                <a:sym typeface="Arial"/>
              </a:rPr>
              <a:t>Especialización en Ciencia de Datos</a:t>
            </a:r>
            <a:endParaRPr sz="1800">
              <a:solidFill>
                <a:srgbClr val="000000"/>
              </a:solidFill>
              <a:latin typeface="Arial"/>
              <a:ea typeface="Arial"/>
              <a:cs typeface="Arial"/>
              <a:sym typeface="Arial"/>
            </a:endParaRPr>
          </a:p>
        </p:txBody>
      </p:sp>
      <p:sp>
        <p:nvSpPr>
          <p:cNvPr id="166" name="Google Shape;166;p1"/>
          <p:cNvSpPr txBox="1"/>
          <p:nvPr/>
        </p:nvSpPr>
        <p:spPr>
          <a:xfrm>
            <a:off x="4638566" y="3198700"/>
            <a:ext cx="7022779"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FFFF"/>
              </a:buClr>
              <a:buSzPts val="1800"/>
              <a:buFont typeface="Arial"/>
              <a:buNone/>
            </a:pPr>
            <a:r>
              <a:rPr lang="es-CL" sz="1800" b="1">
                <a:solidFill>
                  <a:srgbClr val="FFFFFF"/>
                </a:solidFill>
                <a:latin typeface="Arial"/>
                <a:ea typeface="Arial"/>
                <a:cs typeface="Arial"/>
                <a:sym typeface="Arial"/>
              </a:rPr>
              <a:t>Módulo 7 – Fundamentos de Deep Learning</a:t>
            </a:r>
            <a:endParaRPr sz="1800">
              <a:solidFill>
                <a:srgbClr val="000000"/>
              </a:solidFill>
              <a:latin typeface="Calibri"/>
              <a:ea typeface="Calibri"/>
              <a:cs typeface="Calibri"/>
              <a:sym typeface="Calibri"/>
            </a:endParaRPr>
          </a:p>
        </p:txBody>
      </p:sp>
      <p:sp>
        <p:nvSpPr>
          <p:cNvPr id="167" name="Google Shape;167;p1"/>
          <p:cNvSpPr txBox="1"/>
          <p:nvPr/>
        </p:nvSpPr>
        <p:spPr>
          <a:xfrm>
            <a:off x="4638566" y="3925775"/>
            <a:ext cx="6688182" cy="784830"/>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r>
              <a:rPr lang="es-CL" sz="5000" b="1">
                <a:solidFill>
                  <a:srgbClr val="FFFFFF"/>
                </a:solidFill>
                <a:latin typeface="Arial"/>
                <a:ea typeface="Arial"/>
                <a:cs typeface="Arial"/>
                <a:sym typeface="Arial"/>
              </a:rPr>
              <a:t>Redes Convolutivas</a:t>
            </a:r>
            <a:endParaRPr sz="3000" b="1">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
          <p:cNvSpPr/>
          <p:nvPr/>
        </p:nvSpPr>
        <p:spPr>
          <a:xfrm>
            <a:off x="6068291" y="-387943"/>
            <a:ext cx="4557668" cy="5621794"/>
          </a:xfrm>
          <a:prstGeom prst="roundRect">
            <a:avLst>
              <a:gd name="adj" fmla="val 2778"/>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2"/>
          <p:cNvSpPr txBox="1"/>
          <p:nvPr/>
        </p:nvSpPr>
        <p:spPr>
          <a:xfrm>
            <a:off x="436356" y="548058"/>
            <a:ext cx="5293474"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CL" sz="3200">
                <a:solidFill>
                  <a:srgbClr val="7F7F7F"/>
                </a:solidFill>
                <a:latin typeface="Arial"/>
                <a:ea typeface="Arial"/>
                <a:cs typeface="Arial"/>
                <a:sym typeface="Arial"/>
              </a:rPr>
              <a:t>Contenido</a:t>
            </a:r>
            <a:endParaRPr/>
          </a:p>
        </p:txBody>
      </p:sp>
      <p:sp>
        <p:nvSpPr>
          <p:cNvPr id="174" name="Google Shape;174;p2"/>
          <p:cNvSpPr txBox="1"/>
          <p:nvPr/>
        </p:nvSpPr>
        <p:spPr>
          <a:xfrm>
            <a:off x="6301670" y="2729506"/>
            <a:ext cx="4324289" cy="1323439"/>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rgbClr val="FFFFFF"/>
              </a:buClr>
              <a:buSzPts val="2000"/>
              <a:buFont typeface="Calibri"/>
              <a:buAutoNum type="arabicPeriod"/>
            </a:pPr>
            <a:r>
              <a:rPr lang="es-CL" sz="2000">
                <a:solidFill>
                  <a:srgbClr val="FFFFFF"/>
                </a:solidFill>
                <a:latin typeface="Calibri"/>
                <a:ea typeface="Calibri"/>
                <a:cs typeface="Calibri"/>
                <a:sym typeface="Calibri"/>
              </a:rPr>
              <a:t>Redes Neuronales Convolutivas.</a:t>
            </a:r>
            <a:endParaRPr/>
          </a:p>
          <a:p>
            <a:pPr marL="457200" marR="0" lvl="0" indent="-330200" algn="just" rtl="0">
              <a:spcBef>
                <a:spcPts val="0"/>
              </a:spcBef>
              <a:spcAft>
                <a:spcPts val="0"/>
              </a:spcAft>
              <a:buClr>
                <a:srgbClr val="FFFFFF"/>
              </a:buClr>
              <a:buSzPts val="2000"/>
              <a:buFont typeface="Calibri"/>
              <a:buNone/>
            </a:pPr>
            <a:endParaRPr sz="2000">
              <a:solidFill>
                <a:schemeClr val="dk1"/>
              </a:solidFill>
              <a:latin typeface="Calibri"/>
              <a:ea typeface="Calibri"/>
              <a:cs typeface="Calibri"/>
              <a:sym typeface="Calibri"/>
            </a:endParaRPr>
          </a:p>
          <a:p>
            <a:pPr marL="457200" marR="0" lvl="0" indent="-457200" algn="just" rtl="0">
              <a:spcBef>
                <a:spcPts val="0"/>
              </a:spcBef>
              <a:spcAft>
                <a:spcPts val="0"/>
              </a:spcAft>
              <a:buClr>
                <a:srgbClr val="FFFFFF"/>
              </a:buClr>
              <a:buSzPts val="2000"/>
              <a:buFont typeface="Calibri"/>
              <a:buAutoNum type="arabicPeriod"/>
            </a:pPr>
            <a:r>
              <a:rPr lang="es-CL" sz="2000">
                <a:solidFill>
                  <a:srgbClr val="FFFFFF"/>
                </a:solidFill>
                <a:latin typeface="Calibri"/>
                <a:ea typeface="Calibri"/>
                <a:cs typeface="Calibri"/>
                <a:sym typeface="Calibri"/>
              </a:rPr>
              <a:t>Implementación Keras-Tensorflow</a:t>
            </a:r>
            <a:endParaRPr sz="2000">
              <a:solidFill>
                <a:schemeClr val="dk1"/>
              </a:solidFill>
              <a:latin typeface="Calibri"/>
              <a:ea typeface="Calibri"/>
              <a:cs typeface="Calibri"/>
              <a:sym typeface="Calibri"/>
            </a:endParaRPr>
          </a:p>
          <a:p>
            <a:pPr marL="457200" marR="0" lvl="0" indent="-330200" algn="l" rtl="0">
              <a:spcBef>
                <a:spcPts val="0"/>
              </a:spcBef>
              <a:spcAft>
                <a:spcPts val="0"/>
              </a:spcAft>
              <a:buClr>
                <a:srgbClr val="FFFFFF"/>
              </a:buClr>
              <a:buSzPts val="2000"/>
              <a:buFont typeface="Calibri"/>
              <a:buNone/>
            </a:pPr>
            <a:endParaRPr sz="2000">
              <a:solidFill>
                <a:schemeClr val="dk1"/>
              </a:solidFill>
              <a:latin typeface="Arial"/>
              <a:ea typeface="Arial"/>
              <a:cs typeface="Arial"/>
              <a:sym typeface="Arial"/>
            </a:endParaRPr>
          </a:p>
        </p:txBody>
      </p:sp>
      <p:grpSp>
        <p:nvGrpSpPr>
          <p:cNvPr id="175" name="Google Shape;175;p2"/>
          <p:cNvGrpSpPr/>
          <p:nvPr/>
        </p:nvGrpSpPr>
        <p:grpSpPr>
          <a:xfrm>
            <a:off x="1320850" y="1659284"/>
            <a:ext cx="3524500" cy="3720972"/>
            <a:chOff x="1084791" y="0"/>
            <a:chExt cx="3524500" cy="3720972"/>
          </a:xfrm>
        </p:grpSpPr>
        <p:sp>
          <p:nvSpPr>
            <p:cNvPr id="176" name="Google Shape;176;p2"/>
            <p:cNvSpPr/>
            <p:nvPr/>
          </p:nvSpPr>
          <p:spPr>
            <a:xfrm>
              <a:off x="1084791" y="0"/>
              <a:ext cx="3524500" cy="3524500"/>
            </a:xfrm>
            <a:prstGeom prst="ellipse">
              <a:avLst/>
            </a:prstGeom>
            <a:blipFill rotWithShape="1">
              <a:blip r:embed="rId3">
                <a:alphaModFix/>
              </a:blip>
              <a:stretch>
                <a:fillRect l="-24998" r="-24998"/>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
            <p:cNvSpPr/>
            <p:nvPr/>
          </p:nvSpPr>
          <p:spPr>
            <a:xfrm flipH="1">
              <a:off x="3413435" y="3516041"/>
              <a:ext cx="97637" cy="20493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txBox="1"/>
            <p:nvPr/>
          </p:nvSpPr>
          <p:spPr>
            <a:xfrm>
              <a:off x="3413435" y="3516041"/>
              <a:ext cx="97637" cy="204931"/>
            </a:xfrm>
            <a:prstGeom prst="rect">
              <a:avLst/>
            </a:prstGeom>
            <a:noFill/>
            <a:ln>
              <a:noFill/>
            </a:ln>
          </p:spPr>
          <p:txBody>
            <a:bodyPr spcFirstLastPara="1" wrap="square" lIns="0" tIns="0" rIns="0" bIns="0" anchor="b" anchorCtr="0">
              <a:noAutofit/>
            </a:bodyPr>
            <a:lstStyle/>
            <a:p>
              <a:pPr marL="0" marR="0" lvl="0" indent="0" algn="ctr" rtl="0">
                <a:lnSpc>
                  <a:spcPct val="90000"/>
                </a:lnSpc>
                <a:spcBef>
                  <a:spcPts val="0"/>
                </a:spcBef>
                <a:spcAft>
                  <a:spcPts val="0"/>
                </a:spcAft>
                <a:buNone/>
              </a:pPr>
              <a:endParaRPr sz="500">
                <a:solidFill>
                  <a:schemeClr val="lt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500"/>
                                        <p:tgtEl>
                                          <p:spTgt spid="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
          <p:cNvSpPr txBox="1"/>
          <p:nvPr/>
        </p:nvSpPr>
        <p:spPr>
          <a:xfrm>
            <a:off x="835478" y="3421358"/>
            <a:ext cx="7855676"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CL" sz="3600">
                <a:solidFill>
                  <a:srgbClr val="7F7F7F"/>
                </a:solidFill>
                <a:latin typeface="Arial"/>
                <a:ea typeface="Arial"/>
                <a:cs typeface="Arial"/>
                <a:sym typeface="Arial"/>
              </a:rPr>
              <a:t>Redes Neuronales Convolutivas</a:t>
            </a:r>
            <a:endParaRPr sz="3600" b="1">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500"/>
                                        <p:tgtEl>
                                          <p:spTgt spid="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4"/>
          <p:cNvSpPr txBox="1"/>
          <p:nvPr/>
        </p:nvSpPr>
        <p:spPr>
          <a:xfrm>
            <a:off x="1169714" y="895492"/>
            <a:ext cx="9852783"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¿Qué es una CNN?</a:t>
            </a:r>
            <a:endParaRPr/>
          </a:p>
        </p:txBody>
      </p:sp>
      <p:sp>
        <p:nvSpPr>
          <p:cNvPr id="189" name="Google Shape;189;p4"/>
          <p:cNvSpPr/>
          <p:nvPr/>
        </p:nvSpPr>
        <p:spPr>
          <a:xfrm>
            <a:off x="851018" y="1712186"/>
            <a:ext cx="10518786" cy="4035472"/>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4"/>
          <p:cNvSpPr txBox="1"/>
          <p:nvPr/>
        </p:nvSpPr>
        <p:spPr>
          <a:xfrm>
            <a:off x="1198324" y="1883262"/>
            <a:ext cx="9824173" cy="369331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800">
                <a:solidFill>
                  <a:schemeClr val="lt1"/>
                </a:solidFill>
                <a:latin typeface="Calibri"/>
                <a:ea typeface="Calibri"/>
                <a:cs typeface="Calibri"/>
                <a:sym typeface="Calibri"/>
              </a:rPr>
              <a:t>Una red neuronal convolucional (CNN, por sus siglas en inglés) es un tipo de red neuronal artificial que se utiliza principalmente para </a:t>
            </a:r>
            <a:r>
              <a:rPr lang="es-CL" sz="1800" b="1">
                <a:solidFill>
                  <a:schemeClr val="lt1"/>
                </a:solidFill>
                <a:latin typeface="Calibri"/>
                <a:ea typeface="Calibri"/>
                <a:cs typeface="Calibri"/>
                <a:sym typeface="Calibri"/>
              </a:rPr>
              <a:t>procesamiento de imágenes y reconocimiento de patrones</a:t>
            </a:r>
            <a:r>
              <a:rPr lang="es-CL" sz="1800">
                <a:solidFill>
                  <a:schemeClr val="lt1"/>
                </a:solidFill>
                <a:latin typeface="Calibri"/>
                <a:ea typeface="Calibri"/>
                <a:cs typeface="Calibri"/>
                <a:sym typeface="Calibri"/>
              </a:rPr>
              <a:t>.</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CL" sz="1800">
                <a:solidFill>
                  <a:schemeClr val="lt1"/>
                </a:solidFill>
                <a:latin typeface="Calibri"/>
                <a:ea typeface="Calibri"/>
                <a:cs typeface="Calibri"/>
                <a:sym typeface="Calibri"/>
              </a:rPr>
              <a:t>Las CNN se llaman "convolucionales" porque utilizan una operación matemática llamada convolución para procesar la información de entrada. La convolución consiste en aplicar un filtro, que es una matriz de números, a la imagen de entrada para extraer características importantes, como bordes, contornos, texturas y patrones. Estas características son luego procesadas por capas de la red neuronal para hacer predicciones o clasificar la imagen.</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CL" sz="1800">
                <a:solidFill>
                  <a:schemeClr val="lt1"/>
                </a:solidFill>
                <a:latin typeface="Calibri"/>
                <a:ea typeface="Calibri"/>
                <a:cs typeface="Calibri"/>
                <a:sym typeface="Calibri"/>
              </a:rPr>
              <a:t>Las CNN son muy útiles en aplicaciones como la clasificación de imágenes, la detección de objetos, la segmentación de imágenes, el reconocimiento de rostros y la detección de emociones. Debido a su capacidad para procesar grandes cantidades de datos, las CNN se han utilizado con éxito en campos como la medicina, la astronomía, la robótica y la ciencia de datos en general.</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8"/>
                                        </p:tgtEl>
                                        <p:attrNameLst>
                                          <p:attrName>style.visibility</p:attrName>
                                        </p:attrNameLst>
                                      </p:cBhvr>
                                      <p:to>
                                        <p:strVal val="visible"/>
                                      </p:to>
                                    </p:set>
                                    <p:animEffect transition="in" filter="fade">
                                      <p:cBhvr>
                                        <p:cTn id="7" dur="500"/>
                                        <p:tgtEl>
                                          <p:spTgt spid="1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5"/>
          <p:cNvSpPr/>
          <p:nvPr/>
        </p:nvSpPr>
        <p:spPr>
          <a:xfrm>
            <a:off x="984075" y="3291425"/>
            <a:ext cx="10526400" cy="2476200"/>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5"/>
          <p:cNvSpPr txBox="1"/>
          <p:nvPr/>
        </p:nvSpPr>
        <p:spPr>
          <a:xfrm>
            <a:off x="984068" y="543847"/>
            <a:ext cx="10526405" cy="376398"/>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Diferencias entre una CNN y una FCN</a:t>
            </a:r>
            <a:endParaRPr/>
          </a:p>
        </p:txBody>
      </p:sp>
      <p:sp>
        <p:nvSpPr>
          <p:cNvPr id="197" name="Google Shape;197;p5"/>
          <p:cNvSpPr/>
          <p:nvPr/>
        </p:nvSpPr>
        <p:spPr>
          <a:xfrm>
            <a:off x="-179300" y="1049950"/>
            <a:ext cx="12510600" cy="19563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5"/>
          <p:cNvSpPr txBox="1"/>
          <p:nvPr/>
        </p:nvSpPr>
        <p:spPr>
          <a:xfrm>
            <a:off x="681526" y="1098187"/>
            <a:ext cx="10828800" cy="1816200"/>
          </a:xfrm>
          <a:prstGeom prst="rect">
            <a:avLst/>
          </a:prstGeom>
          <a:noFill/>
          <a:ln>
            <a:noFill/>
          </a:ln>
        </p:spPr>
        <p:txBody>
          <a:bodyPr spcFirstLastPara="1" wrap="square" lIns="91425" tIns="45700" rIns="91425" bIns="45700" anchor="t" anchorCtr="0">
            <a:spAutoFit/>
          </a:bodyPr>
          <a:lstStyle/>
          <a:p>
            <a:pPr marL="285750" marR="0" lvl="0" indent="-298450" algn="just" rtl="0">
              <a:spcBef>
                <a:spcPts val="0"/>
              </a:spcBef>
              <a:spcAft>
                <a:spcPts val="0"/>
              </a:spcAft>
              <a:buClr>
                <a:schemeClr val="lt1"/>
              </a:buClr>
              <a:buSzPts val="1600"/>
              <a:buFont typeface="Noto Sans Symbols"/>
              <a:buChar char="⮚"/>
            </a:pPr>
            <a:r>
              <a:rPr lang="es-CL" sz="1600">
                <a:solidFill>
                  <a:schemeClr val="lt1"/>
                </a:solidFill>
                <a:latin typeface="Calibri"/>
                <a:ea typeface="Calibri"/>
                <a:cs typeface="Calibri"/>
                <a:sym typeface="Calibri"/>
              </a:rPr>
              <a:t>La principal diferencia entre una red neuronal convolucional (CNN) y una red neuronal completamente conectada (fully connected o FCN) es la forma en que procesan los datos de entrada.</a:t>
            </a:r>
            <a:endParaRPr sz="1600"/>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285750" marR="0" lvl="0" indent="-298450" algn="just" rtl="0">
              <a:spcBef>
                <a:spcPts val="0"/>
              </a:spcBef>
              <a:spcAft>
                <a:spcPts val="0"/>
              </a:spcAft>
              <a:buClr>
                <a:schemeClr val="lt1"/>
              </a:buClr>
              <a:buSzPts val="1600"/>
              <a:buFont typeface="Noto Sans Symbols"/>
              <a:buChar char="⮚"/>
            </a:pPr>
            <a:r>
              <a:rPr lang="es-CL" sz="1600">
                <a:solidFill>
                  <a:schemeClr val="lt1"/>
                </a:solidFill>
                <a:latin typeface="Calibri"/>
                <a:ea typeface="Calibri"/>
                <a:cs typeface="Calibri"/>
                <a:sym typeface="Calibri"/>
              </a:rPr>
              <a:t>En una red FCN, cada neurona de una capa está conectada a todas las neuronas de la capa siguiente, lo que significa que todas las características de entrada son procesadas simultáneamente para hacer una predicción. Por ejemplo, en una red FCN utilizada para el reconocimiento de dígitos escritos a mano, cada píxel de la imagen de entrada se conecta directamente a cada neurona de la primera capa oculta.</a:t>
            </a:r>
            <a:endParaRPr sz="1600"/>
          </a:p>
        </p:txBody>
      </p:sp>
      <p:pic>
        <p:nvPicPr>
          <p:cNvPr id="199" name="Google Shape;199;p5" descr="neural networks"/>
          <p:cNvPicPr preferRelativeResize="0"/>
          <p:nvPr/>
        </p:nvPicPr>
        <p:blipFill rotWithShape="1">
          <a:blip r:embed="rId3">
            <a:alphaModFix/>
          </a:blip>
          <a:srcRect l="40240" t="11154" b="15239"/>
          <a:stretch/>
        </p:blipFill>
        <p:spPr>
          <a:xfrm>
            <a:off x="4971210" y="3654530"/>
            <a:ext cx="3927528" cy="1815882"/>
          </a:xfrm>
          <a:prstGeom prst="rect">
            <a:avLst/>
          </a:prstGeom>
          <a:noFill/>
          <a:ln>
            <a:noFill/>
          </a:ln>
        </p:spPr>
      </p:pic>
      <p:pic>
        <p:nvPicPr>
          <p:cNvPr id="200" name="Google Shape;200;p5"/>
          <p:cNvPicPr preferRelativeResize="0"/>
          <p:nvPr/>
        </p:nvPicPr>
        <p:blipFill rotWithShape="1">
          <a:blip r:embed="rId4">
            <a:alphaModFix/>
          </a:blip>
          <a:srcRect/>
          <a:stretch/>
        </p:blipFill>
        <p:spPr>
          <a:xfrm>
            <a:off x="2952322" y="3446691"/>
            <a:ext cx="1000265" cy="2105319"/>
          </a:xfrm>
          <a:prstGeom prst="rect">
            <a:avLst/>
          </a:prstGeom>
          <a:noFill/>
          <a:ln>
            <a:noFill/>
          </a:ln>
        </p:spPr>
      </p:pic>
      <p:sp>
        <p:nvSpPr>
          <p:cNvPr id="201" name="Google Shape;201;p5"/>
          <p:cNvSpPr/>
          <p:nvPr/>
        </p:nvSpPr>
        <p:spPr>
          <a:xfrm>
            <a:off x="4537591" y="4439922"/>
            <a:ext cx="198000" cy="245100"/>
          </a:xfrm>
          <a:prstGeom prst="rightArrow">
            <a:avLst>
              <a:gd name="adj1" fmla="val 50000"/>
              <a:gd name="adj2" fmla="val 500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96"/>
                                        </p:tgtEl>
                                        <p:attrNameLst>
                                          <p:attrName>style.visibility</p:attrName>
                                        </p:attrNameLst>
                                      </p:cBhvr>
                                      <p:to>
                                        <p:strVal val="visible"/>
                                      </p:to>
                                    </p:set>
                                    <p:animEffect transition="in" filter="fade">
                                      <p:cBhvr>
                                        <p:cTn id="7" dur="500"/>
                                        <p:tgtEl>
                                          <p:spTgt spid="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6"/>
          <p:cNvSpPr/>
          <p:nvPr/>
        </p:nvSpPr>
        <p:spPr>
          <a:xfrm>
            <a:off x="764275" y="2771725"/>
            <a:ext cx="10821900" cy="3361800"/>
          </a:xfrm>
          <a:prstGeom prst="roundRect">
            <a:avLst>
              <a:gd name="adj" fmla="val 2971"/>
            </a:avLst>
          </a:prstGeom>
          <a:solidFill>
            <a:schemeClr val="lt1"/>
          </a:solidFill>
          <a:ln w="38100" cap="flat" cmpd="sng">
            <a:solidFill>
              <a:srgbClr val="F6A1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7" name="Google Shape;207;p6"/>
          <p:cNvSpPr txBox="1"/>
          <p:nvPr/>
        </p:nvSpPr>
        <p:spPr>
          <a:xfrm>
            <a:off x="1672047" y="482280"/>
            <a:ext cx="9815103" cy="389385"/>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Diferencias entre una CNN y una FCN</a:t>
            </a:r>
            <a:endParaRPr/>
          </a:p>
        </p:txBody>
      </p:sp>
      <p:sp>
        <p:nvSpPr>
          <p:cNvPr id="208" name="Google Shape;208;p6"/>
          <p:cNvSpPr/>
          <p:nvPr/>
        </p:nvSpPr>
        <p:spPr>
          <a:xfrm>
            <a:off x="-197225" y="1010875"/>
            <a:ext cx="12554700" cy="15495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 name="Google Shape;209;p6"/>
          <p:cNvSpPr txBox="1"/>
          <p:nvPr/>
        </p:nvSpPr>
        <p:spPr>
          <a:xfrm>
            <a:off x="662375" y="1094800"/>
            <a:ext cx="10964700" cy="13236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En cambio, en una CNN, las capas convolucionales procesan solo pequeñas regiones de la imagen de entrada a la vez, en lugar de la imagen completa, utilizando filtros que se desplazan sobre la imagen para extraer características locales. Además, las </a:t>
            </a:r>
            <a:r>
              <a:rPr lang="es-CL" sz="1600" b="1">
                <a:solidFill>
                  <a:schemeClr val="lt1"/>
                </a:solidFill>
                <a:latin typeface="Calibri"/>
                <a:ea typeface="Calibri"/>
                <a:cs typeface="Calibri"/>
                <a:sym typeface="Calibri"/>
              </a:rPr>
              <a:t>capas convolucionales </a:t>
            </a:r>
            <a:r>
              <a:rPr lang="es-CL" sz="1600">
                <a:solidFill>
                  <a:schemeClr val="lt1"/>
                </a:solidFill>
                <a:latin typeface="Calibri"/>
                <a:ea typeface="Calibri"/>
                <a:cs typeface="Calibri"/>
                <a:sym typeface="Calibri"/>
              </a:rPr>
              <a:t>están seguidas de </a:t>
            </a:r>
            <a:r>
              <a:rPr lang="es-CL" sz="1600" b="1">
                <a:solidFill>
                  <a:schemeClr val="lt1"/>
                </a:solidFill>
                <a:latin typeface="Calibri"/>
                <a:ea typeface="Calibri"/>
                <a:cs typeface="Calibri"/>
                <a:sym typeface="Calibri"/>
              </a:rPr>
              <a:t>capas de pooling </a:t>
            </a:r>
            <a:r>
              <a:rPr lang="es-CL" sz="1600">
                <a:solidFill>
                  <a:schemeClr val="lt1"/>
                </a:solidFill>
                <a:latin typeface="Calibri"/>
                <a:ea typeface="Calibri"/>
                <a:cs typeface="Calibri"/>
                <a:sym typeface="Calibri"/>
              </a:rPr>
              <a:t>que reducen la resolución de la imagen para disminuir la cantidad de parámetros de la red y evitar el sobreajuste. Finalmente, las capas completamente conectadas procesan las características extraídas por las capas convolucionales para hacer la predicción.</a:t>
            </a:r>
            <a:endParaRPr sz="1600"/>
          </a:p>
        </p:txBody>
      </p:sp>
      <p:pic>
        <p:nvPicPr>
          <p:cNvPr id="210" name="Google Shape;210;p6" descr="Deep Learning: Common Architectures | by Stacey Ronaghan | Medium"/>
          <p:cNvPicPr preferRelativeResize="0"/>
          <p:nvPr/>
        </p:nvPicPr>
        <p:blipFill rotWithShape="1">
          <a:blip r:embed="rId3">
            <a:alphaModFix/>
          </a:blip>
          <a:srcRect/>
          <a:stretch/>
        </p:blipFill>
        <p:spPr>
          <a:xfrm>
            <a:off x="2685525" y="2850963"/>
            <a:ext cx="6602990" cy="2532662"/>
          </a:xfrm>
          <a:prstGeom prst="rect">
            <a:avLst/>
          </a:prstGeom>
          <a:noFill/>
          <a:ln>
            <a:noFill/>
          </a:ln>
        </p:spPr>
      </p:pic>
      <p:sp>
        <p:nvSpPr>
          <p:cNvPr id="211" name="Google Shape;211;p6"/>
          <p:cNvSpPr/>
          <p:nvPr/>
        </p:nvSpPr>
        <p:spPr>
          <a:xfrm rot="-5400000">
            <a:off x="5786142" y="3659134"/>
            <a:ext cx="261611" cy="3780151"/>
          </a:xfrm>
          <a:prstGeom prst="leftBrace">
            <a:avLst>
              <a:gd name="adj1" fmla="val 8333"/>
              <a:gd name="adj2" fmla="val 50000"/>
            </a:avLst>
          </a:prstGeom>
          <a:noFill/>
          <a:ln w="9525"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7F7F7F"/>
              </a:solidFill>
              <a:latin typeface="Calibri"/>
              <a:ea typeface="Calibri"/>
              <a:cs typeface="Calibri"/>
              <a:sym typeface="Calibri"/>
            </a:endParaRPr>
          </a:p>
        </p:txBody>
      </p:sp>
      <p:sp>
        <p:nvSpPr>
          <p:cNvPr id="212" name="Google Shape;212;p6"/>
          <p:cNvSpPr txBox="1"/>
          <p:nvPr/>
        </p:nvSpPr>
        <p:spPr>
          <a:xfrm>
            <a:off x="5273982" y="5680016"/>
            <a:ext cx="1317990" cy="261610"/>
          </a:xfrm>
          <a:prstGeom prst="rect">
            <a:avLst/>
          </a:prstGeom>
          <a:solidFill>
            <a:srgbClr val="BFBFB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100" b="1">
                <a:solidFill>
                  <a:schemeClr val="lt1"/>
                </a:solidFill>
                <a:latin typeface="Calibri"/>
                <a:ea typeface="Calibri"/>
                <a:cs typeface="Calibri"/>
                <a:sym typeface="Calibri"/>
              </a:rPr>
              <a:t>Capas Convolutivas</a:t>
            </a:r>
            <a:endParaRPr sz="1100" b="1">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7"/>
          <p:cNvSpPr/>
          <p:nvPr/>
        </p:nvSpPr>
        <p:spPr>
          <a:xfrm>
            <a:off x="376525" y="1090350"/>
            <a:ext cx="11466000" cy="50748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8" name="Google Shape;218;p7"/>
          <p:cNvSpPr txBox="1"/>
          <p:nvPr/>
        </p:nvSpPr>
        <p:spPr>
          <a:xfrm>
            <a:off x="464348" y="306825"/>
            <a:ext cx="5651100" cy="731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219" name="Google Shape;219;p7"/>
          <p:cNvSpPr txBox="1"/>
          <p:nvPr/>
        </p:nvSpPr>
        <p:spPr>
          <a:xfrm>
            <a:off x="603525" y="1269775"/>
            <a:ext cx="11013300" cy="8310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La convolución es una operación matemática que se utiliza para procesar imágenes y otros tipos de datos estructurados en redes neuronales convolucionales, permitiendo extraer características importantes de manera eficiente y con una cantidad menor de parámetros.</a:t>
            </a:r>
            <a:r>
              <a:rPr lang="es-CL" sz="1600">
                <a:solidFill>
                  <a:srgbClr val="FFFFFF"/>
                </a:solidFill>
                <a:latin typeface="Calibri"/>
                <a:ea typeface="Calibri"/>
                <a:cs typeface="Calibri"/>
                <a:sym typeface="Calibri"/>
              </a:rPr>
              <a:t> </a:t>
            </a:r>
            <a:endParaRPr sz="1600">
              <a:solidFill>
                <a:schemeClr val="lt1"/>
              </a:solidFill>
              <a:latin typeface="Arial"/>
              <a:ea typeface="Arial"/>
              <a:cs typeface="Arial"/>
              <a:sym typeface="Arial"/>
            </a:endParaRPr>
          </a:p>
        </p:txBody>
      </p:sp>
      <p:pic>
        <p:nvPicPr>
          <p:cNvPr id="220" name="Google Shape;220;p7"/>
          <p:cNvPicPr preferRelativeResize="0"/>
          <p:nvPr/>
        </p:nvPicPr>
        <p:blipFill rotWithShape="1">
          <a:blip r:embed="rId3">
            <a:alphaModFix/>
          </a:blip>
          <a:srcRect/>
          <a:stretch/>
        </p:blipFill>
        <p:spPr>
          <a:xfrm>
            <a:off x="3433900" y="2225507"/>
            <a:ext cx="5693666" cy="2610828"/>
          </a:xfrm>
          <a:prstGeom prst="rect">
            <a:avLst/>
          </a:prstGeom>
          <a:noFill/>
          <a:ln w="38100" cap="flat" cmpd="sng">
            <a:solidFill>
              <a:srgbClr val="7F7F7F"/>
            </a:solidFill>
            <a:prstDash val="solid"/>
            <a:round/>
            <a:headEnd type="none" w="sm" len="sm"/>
            <a:tailEnd type="none" w="sm" len="sm"/>
          </a:ln>
        </p:spPr>
      </p:pic>
      <p:sp>
        <p:nvSpPr>
          <p:cNvPr id="221" name="Google Shape;221;p7"/>
          <p:cNvSpPr txBox="1"/>
          <p:nvPr/>
        </p:nvSpPr>
        <p:spPr>
          <a:xfrm>
            <a:off x="509500" y="4961050"/>
            <a:ext cx="11013300" cy="10773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La convolución se utiliza en las CNN porque permite extraer características importantes de las imágenes de entrada, como bordes, contornos, texturas y patrones, de manera eficiente. Además, la convolución reduce la cantidad de parámetros de la red en comparación con las redes neuronales completamente conectadas, lo que ayuda a prevenir el sobreajuste y a mejorar el rendimiento de la red.</a:t>
            </a:r>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5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8"/>
          <p:cNvSpPr/>
          <p:nvPr/>
        </p:nvSpPr>
        <p:spPr>
          <a:xfrm>
            <a:off x="678725" y="2420316"/>
            <a:ext cx="10782298" cy="3379594"/>
          </a:xfrm>
          <a:prstGeom prst="roundRect">
            <a:avLst>
              <a:gd name="adj" fmla="val 2971"/>
            </a:avLst>
          </a:prstGeom>
          <a:solidFill>
            <a:schemeClr val="lt1"/>
          </a:solidFill>
          <a:ln w="38100" cap="flat" cmpd="sng">
            <a:solidFill>
              <a:srgbClr val="F6A1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8"/>
          <p:cNvSpPr txBox="1"/>
          <p:nvPr/>
        </p:nvSpPr>
        <p:spPr>
          <a:xfrm>
            <a:off x="678724" y="739585"/>
            <a:ext cx="10782300" cy="524170"/>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228" name="Google Shape;228;p8"/>
          <p:cNvSpPr/>
          <p:nvPr/>
        </p:nvSpPr>
        <p:spPr>
          <a:xfrm>
            <a:off x="-97844" y="1359217"/>
            <a:ext cx="12376929" cy="902324"/>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8"/>
          <p:cNvSpPr txBox="1"/>
          <p:nvPr/>
        </p:nvSpPr>
        <p:spPr>
          <a:xfrm>
            <a:off x="678724" y="1517991"/>
            <a:ext cx="10782299"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Para realizar el proceso de convolución, se utiliza lo que se denomina Filtro Convolutivo (Kernel), que es una matriz de valores numéricos.</a:t>
            </a:r>
            <a:endParaRPr sz="1600">
              <a:solidFill>
                <a:schemeClr val="lt1"/>
              </a:solidFill>
              <a:latin typeface="Calibri"/>
              <a:ea typeface="Calibri"/>
              <a:cs typeface="Calibri"/>
              <a:sym typeface="Calibri"/>
            </a:endParaRPr>
          </a:p>
        </p:txBody>
      </p:sp>
      <p:pic>
        <p:nvPicPr>
          <p:cNvPr id="230" name="Google Shape;230;p8"/>
          <p:cNvPicPr preferRelativeResize="0"/>
          <p:nvPr/>
        </p:nvPicPr>
        <p:blipFill rotWithShape="1">
          <a:blip r:embed="rId3">
            <a:alphaModFix/>
          </a:blip>
          <a:srcRect r="51300"/>
          <a:stretch/>
        </p:blipFill>
        <p:spPr>
          <a:xfrm>
            <a:off x="1260764" y="2550165"/>
            <a:ext cx="3414563" cy="2591162"/>
          </a:xfrm>
          <a:prstGeom prst="rect">
            <a:avLst/>
          </a:prstGeom>
          <a:noFill/>
          <a:ln>
            <a:noFill/>
          </a:ln>
        </p:spPr>
      </p:pic>
      <p:pic>
        <p:nvPicPr>
          <p:cNvPr id="231" name="Google Shape;231;p8"/>
          <p:cNvPicPr preferRelativeResize="0"/>
          <p:nvPr/>
        </p:nvPicPr>
        <p:blipFill rotWithShape="1">
          <a:blip r:embed="rId3">
            <a:alphaModFix/>
          </a:blip>
          <a:srcRect l="53406"/>
          <a:stretch/>
        </p:blipFill>
        <p:spPr>
          <a:xfrm>
            <a:off x="7641632" y="2546123"/>
            <a:ext cx="3266877" cy="2591162"/>
          </a:xfrm>
          <a:prstGeom prst="rect">
            <a:avLst/>
          </a:prstGeom>
          <a:noFill/>
          <a:ln>
            <a:noFill/>
          </a:ln>
        </p:spPr>
      </p:pic>
      <p:sp>
        <p:nvSpPr>
          <p:cNvPr id="232" name="Google Shape;232;p8"/>
          <p:cNvSpPr/>
          <p:nvPr/>
        </p:nvSpPr>
        <p:spPr>
          <a:xfrm>
            <a:off x="5471893" y="3238389"/>
            <a:ext cx="1102937" cy="1093510"/>
          </a:xfrm>
          <a:prstGeom prst="rect">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2400" b="1">
                <a:solidFill>
                  <a:srgbClr val="595959"/>
                </a:solidFill>
                <a:latin typeface="Calibri"/>
                <a:ea typeface="Calibri"/>
                <a:cs typeface="Calibri"/>
                <a:sym typeface="Calibri"/>
              </a:rPr>
              <a:t>Filtro</a:t>
            </a:r>
            <a:endParaRPr/>
          </a:p>
        </p:txBody>
      </p:sp>
      <p:sp>
        <p:nvSpPr>
          <p:cNvPr id="233" name="Google Shape;233;p8"/>
          <p:cNvSpPr/>
          <p:nvPr/>
        </p:nvSpPr>
        <p:spPr>
          <a:xfrm>
            <a:off x="4796302" y="3587181"/>
            <a:ext cx="483911" cy="254523"/>
          </a:xfrm>
          <a:prstGeom prst="rightArrow">
            <a:avLst>
              <a:gd name="adj1" fmla="val 50000"/>
              <a:gd name="adj2" fmla="val 50000"/>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4" name="Google Shape;234;p8"/>
          <p:cNvSpPr/>
          <p:nvPr/>
        </p:nvSpPr>
        <p:spPr>
          <a:xfrm>
            <a:off x="6810500" y="3587181"/>
            <a:ext cx="483911" cy="254523"/>
          </a:xfrm>
          <a:prstGeom prst="rightArrow">
            <a:avLst>
              <a:gd name="adj1" fmla="val 50000"/>
              <a:gd name="adj2" fmla="val 50000"/>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35" name="Google Shape;235;p8"/>
          <p:cNvSpPr txBox="1"/>
          <p:nvPr/>
        </p:nvSpPr>
        <p:spPr>
          <a:xfrm>
            <a:off x="1746991" y="5309526"/>
            <a:ext cx="19783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1">
                <a:solidFill>
                  <a:srgbClr val="595959"/>
                </a:solidFill>
                <a:latin typeface="Calibri"/>
                <a:ea typeface="Calibri"/>
                <a:cs typeface="Calibri"/>
                <a:sym typeface="Calibri"/>
              </a:rPr>
              <a:t>Imagen de Entrada</a:t>
            </a:r>
            <a:endParaRPr/>
          </a:p>
        </p:txBody>
      </p:sp>
      <p:sp>
        <p:nvSpPr>
          <p:cNvPr id="236" name="Google Shape;236;p8"/>
          <p:cNvSpPr txBox="1"/>
          <p:nvPr/>
        </p:nvSpPr>
        <p:spPr>
          <a:xfrm>
            <a:off x="5680767" y="5309526"/>
            <a:ext cx="6851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1">
                <a:solidFill>
                  <a:srgbClr val="595959"/>
                </a:solidFill>
                <a:latin typeface="Calibri"/>
                <a:ea typeface="Calibri"/>
                <a:cs typeface="Calibri"/>
                <a:sym typeface="Calibri"/>
              </a:rPr>
              <a:t>Filtro</a:t>
            </a:r>
            <a:endParaRPr/>
          </a:p>
        </p:txBody>
      </p:sp>
      <p:sp>
        <p:nvSpPr>
          <p:cNvPr id="237" name="Google Shape;237;p8"/>
          <p:cNvSpPr txBox="1"/>
          <p:nvPr/>
        </p:nvSpPr>
        <p:spPr>
          <a:xfrm>
            <a:off x="4773638" y="5364905"/>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238" name="Google Shape;238;p8"/>
          <p:cNvSpPr txBox="1"/>
          <p:nvPr/>
        </p:nvSpPr>
        <p:spPr>
          <a:xfrm>
            <a:off x="7341550" y="5313523"/>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239" name="Google Shape;239;p8"/>
          <p:cNvSpPr txBox="1"/>
          <p:nvPr/>
        </p:nvSpPr>
        <p:spPr>
          <a:xfrm>
            <a:off x="8485855" y="5307505"/>
            <a:ext cx="18092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1">
                <a:solidFill>
                  <a:srgbClr val="595959"/>
                </a:solidFill>
                <a:latin typeface="Calibri"/>
                <a:ea typeface="Calibri"/>
                <a:cs typeface="Calibri"/>
                <a:sym typeface="Calibri"/>
              </a:rPr>
              <a:t>Imagen de Salida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7"/>
                                        </p:tgtEl>
                                        <p:attrNameLst>
                                          <p:attrName>style.visibility</p:attrName>
                                        </p:attrNameLst>
                                      </p:cBhvr>
                                      <p:to>
                                        <p:strVal val="visible"/>
                                      </p:to>
                                    </p:set>
                                    <p:animEffect transition="in" filter="fade">
                                      <p:cBhvr>
                                        <p:cTn id="7" dur="5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9"/>
          <p:cNvSpPr/>
          <p:nvPr/>
        </p:nvSpPr>
        <p:spPr>
          <a:xfrm>
            <a:off x="704850" y="1894300"/>
            <a:ext cx="10591038" cy="3722729"/>
          </a:xfrm>
          <a:prstGeom prst="roundRect">
            <a:avLst>
              <a:gd name="adj" fmla="val 2971"/>
            </a:avLst>
          </a:prstGeom>
          <a:solidFill>
            <a:schemeClr val="lt1"/>
          </a:solidFill>
          <a:ln w="38100" cap="flat" cmpd="sng">
            <a:solidFill>
              <a:srgbClr val="F6A1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9"/>
          <p:cNvSpPr txBox="1"/>
          <p:nvPr/>
        </p:nvSpPr>
        <p:spPr>
          <a:xfrm>
            <a:off x="704850" y="500353"/>
            <a:ext cx="10782300" cy="479371"/>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246" name="Google Shape;246;p9"/>
          <p:cNvSpPr/>
          <p:nvPr/>
        </p:nvSpPr>
        <p:spPr>
          <a:xfrm>
            <a:off x="-116541" y="1054419"/>
            <a:ext cx="12430461" cy="6878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9"/>
          <p:cNvSpPr txBox="1"/>
          <p:nvPr/>
        </p:nvSpPr>
        <p:spPr>
          <a:xfrm>
            <a:off x="704851" y="1206500"/>
            <a:ext cx="2264772" cy="40011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2000">
                <a:solidFill>
                  <a:schemeClr val="lt1"/>
                </a:solidFill>
                <a:latin typeface="Calibri"/>
                <a:ea typeface="Calibri"/>
                <a:cs typeface="Calibri"/>
                <a:sym typeface="Calibri"/>
              </a:rPr>
              <a:t>Algunos ejemplos:</a:t>
            </a:r>
            <a:endParaRPr sz="2000">
              <a:solidFill>
                <a:schemeClr val="lt1"/>
              </a:solidFill>
              <a:latin typeface="Calibri"/>
              <a:ea typeface="Calibri"/>
              <a:cs typeface="Calibri"/>
              <a:sym typeface="Calibri"/>
            </a:endParaRPr>
          </a:p>
        </p:txBody>
      </p:sp>
      <p:sp>
        <p:nvSpPr>
          <p:cNvPr id="248" name="Google Shape;248;p9"/>
          <p:cNvSpPr/>
          <p:nvPr/>
        </p:nvSpPr>
        <p:spPr>
          <a:xfrm>
            <a:off x="5413155" y="3147478"/>
            <a:ext cx="1102937" cy="1093510"/>
          </a:xfrm>
          <a:prstGeom prst="rect">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Filtro</a:t>
            </a:r>
            <a:endParaRPr/>
          </a:p>
        </p:txBody>
      </p:sp>
      <p:sp>
        <p:nvSpPr>
          <p:cNvPr id="249" name="Google Shape;249;p9"/>
          <p:cNvSpPr/>
          <p:nvPr/>
        </p:nvSpPr>
        <p:spPr>
          <a:xfrm>
            <a:off x="4737564" y="3496270"/>
            <a:ext cx="483911" cy="254523"/>
          </a:xfrm>
          <a:prstGeom prst="rightArrow">
            <a:avLst>
              <a:gd name="adj1" fmla="val 50000"/>
              <a:gd name="adj2" fmla="val 50000"/>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50" name="Google Shape;250;p9"/>
          <p:cNvSpPr/>
          <p:nvPr/>
        </p:nvSpPr>
        <p:spPr>
          <a:xfrm>
            <a:off x="6751762" y="3496270"/>
            <a:ext cx="483911" cy="254523"/>
          </a:xfrm>
          <a:prstGeom prst="rightArrow">
            <a:avLst>
              <a:gd name="adj1" fmla="val 50000"/>
              <a:gd name="adj2" fmla="val 50000"/>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pic>
        <p:nvPicPr>
          <p:cNvPr id="251" name="Google Shape;251;p9"/>
          <p:cNvPicPr preferRelativeResize="0"/>
          <p:nvPr/>
        </p:nvPicPr>
        <p:blipFill rotWithShape="1">
          <a:blip r:embed="rId3">
            <a:alphaModFix/>
          </a:blip>
          <a:srcRect/>
          <a:stretch/>
        </p:blipFill>
        <p:spPr>
          <a:xfrm>
            <a:off x="1265707" y="2093809"/>
            <a:ext cx="3124636" cy="3200847"/>
          </a:xfrm>
          <a:prstGeom prst="rect">
            <a:avLst/>
          </a:prstGeom>
          <a:noFill/>
          <a:ln>
            <a:noFill/>
          </a:ln>
        </p:spPr>
      </p:pic>
      <p:pic>
        <p:nvPicPr>
          <p:cNvPr id="252" name="Google Shape;252;p9"/>
          <p:cNvPicPr preferRelativeResize="0"/>
          <p:nvPr/>
        </p:nvPicPr>
        <p:blipFill rotWithShape="1">
          <a:blip r:embed="rId4">
            <a:alphaModFix/>
          </a:blip>
          <a:srcRect/>
          <a:stretch/>
        </p:blipFill>
        <p:spPr>
          <a:xfrm>
            <a:off x="7471343" y="2145606"/>
            <a:ext cx="3286584" cy="321037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45"/>
                                        </p:tgtEl>
                                        <p:attrNameLst>
                                          <p:attrName>style.visibility</p:attrName>
                                        </p:attrNameLst>
                                      </p:cBhvr>
                                      <p:to>
                                        <p:strVal val="visible"/>
                                      </p:to>
                                    </p:set>
                                    <p:animEffect transition="in" filter="fade">
                                      <p:cBhvr>
                                        <p:cTn id="7" dur="500"/>
                                        <p:tgtEl>
                                          <p:spTgt spid="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0"/>
          <p:cNvSpPr/>
          <p:nvPr/>
        </p:nvSpPr>
        <p:spPr>
          <a:xfrm>
            <a:off x="704850" y="1894300"/>
            <a:ext cx="10591038" cy="3722729"/>
          </a:xfrm>
          <a:prstGeom prst="roundRect">
            <a:avLst>
              <a:gd name="adj" fmla="val 2971"/>
            </a:avLst>
          </a:prstGeom>
          <a:solidFill>
            <a:schemeClr val="lt1"/>
          </a:solidFill>
          <a:ln w="38100" cap="flat" cmpd="sng">
            <a:solidFill>
              <a:srgbClr val="F6A1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58" name="Google Shape;258;p10"/>
          <p:cNvSpPr txBox="1"/>
          <p:nvPr/>
        </p:nvSpPr>
        <p:spPr>
          <a:xfrm>
            <a:off x="704850" y="500353"/>
            <a:ext cx="10782300" cy="479371"/>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Clr>
                <a:srgbClr val="7F7F7F"/>
              </a:buClr>
              <a:buSzPts val="3200"/>
              <a:buFont typeface="Arial"/>
              <a:buNone/>
            </a:pPr>
            <a:r>
              <a:rPr lang="es-CL" sz="3200" b="0" i="0" u="none" strike="noStrike" cap="none">
                <a:solidFill>
                  <a:srgbClr val="7F7F7F"/>
                </a:solidFill>
                <a:latin typeface="Arial"/>
                <a:ea typeface="Arial"/>
                <a:cs typeface="Arial"/>
                <a:sym typeface="Arial"/>
              </a:rPr>
              <a:t>Operación de Convolución</a:t>
            </a:r>
            <a:endParaRPr/>
          </a:p>
        </p:txBody>
      </p:sp>
      <p:sp>
        <p:nvSpPr>
          <p:cNvPr id="259" name="Google Shape;259;p10"/>
          <p:cNvSpPr/>
          <p:nvPr/>
        </p:nvSpPr>
        <p:spPr>
          <a:xfrm>
            <a:off x="-116541" y="1054419"/>
            <a:ext cx="12430461" cy="6878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60" name="Google Shape;260;p10"/>
          <p:cNvSpPr txBox="1"/>
          <p:nvPr/>
        </p:nvSpPr>
        <p:spPr>
          <a:xfrm>
            <a:off x="704851" y="1206500"/>
            <a:ext cx="2264772"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2000"/>
              <a:buFont typeface="Calibri"/>
              <a:buNone/>
            </a:pPr>
            <a:r>
              <a:rPr lang="es-CL" sz="2000" b="0" i="0" u="none" strike="noStrike" cap="none">
                <a:solidFill>
                  <a:srgbClr val="FFFFFF"/>
                </a:solidFill>
                <a:latin typeface="Calibri"/>
                <a:ea typeface="Calibri"/>
                <a:cs typeface="Calibri"/>
                <a:sym typeface="Calibri"/>
              </a:rPr>
              <a:t>Algunos ejemplos:</a:t>
            </a:r>
            <a:endParaRPr sz="2000" b="0" i="0" u="none" strike="noStrike" cap="none">
              <a:solidFill>
                <a:srgbClr val="FFFFFF"/>
              </a:solidFill>
              <a:latin typeface="Calibri"/>
              <a:ea typeface="Calibri"/>
              <a:cs typeface="Calibri"/>
              <a:sym typeface="Calibri"/>
            </a:endParaRPr>
          </a:p>
        </p:txBody>
      </p:sp>
      <p:sp>
        <p:nvSpPr>
          <p:cNvPr id="261" name="Google Shape;261;p10"/>
          <p:cNvSpPr/>
          <p:nvPr/>
        </p:nvSpPr>
        <p:spPr>
          <a:xfrm>
            <a:off x="5317356" y="3147478"/>
            <a:ext cx="1102937" cy="1093510"/>
          </a:xfrm>
          <a:prstGeom prst="rect">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Calibri"/>
              <a:buNone/>
            </a:pPr>
            <a:r>
              <a:rPr lang="es-CL" sz="1800" b="0" i="0" u="none" strike="noStrike" cap="none">
                <a:solidFill>
                  <a:srgbClr val="000000"/>
                </a:solidFill>
                <a:latin typeface="Calibri"/>
                <a:ea typeface="Calibri"/>
                <a:cs typeface="Calibri"/>
                <a:sym typeface="Calibri"/>
              </a:rPr>
              <a:t>Filtro</a:t>
            </a:r>
            <a:endParaRPr/>
          </a:p>
        </p:txBody>
      </p:sp>
      <p:sp>
        <p:nvSpPr>
          <p:cNvPr id="262" name="Google Shape;262;p10"/>
          <p:cNvSpPr/>
          <p:nvPr/>
        </p:nvSpPr>
        <p:spPr>
          <a:xfrm>
            <a:off x="4641765" y="3496270"/>
            <a:ext cx="483911" cy="254523"/>
          </a:xfrm>
          <a:prstGeom prst="rightArrow">
            <a:avLst>
              <a:gd name="adj1" fmla="val 50000"/>
              <a:gd name="adj2" fmla="val 50000"/>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63" name="Google Shape;263;p10"/>
          <p:cNvSpPr/>
          <p:nvPr/>
        </p:nvSpPr>
        <p:spPr>
          <a:xfrm>
            <a:off x="6655963" y="3496270"/>
            <a:ext cx="483911" cy="254523"/>
          </a:xfrm>
          <a:prstGeom prst="rightArrow">
            <a:avLst>
              <a:gd name="adj1" fmla="val 50000"/>
              <a:gd name="adj2" fmla="val 50000"/>
            </a:avLst>
          </a:prstGeom>
          <a:solidFill>
            <a:srgbClr val="F2F2F2"/>
          </a:solidFill>
          <a:ln w="127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pic>
        <p:nvPicPr>
          <p:cNvPr id="264" name="Google Shape;264;p10"/>
          <p:cNvPicPr preferRelativeResize="0"/>
          <p:nvPr/>
        </p:nvPicPr>
        <p:blipFill rotWithShape="1">
          <a:blip r:embed="rId3">
            <a:alphaModFix/>
          </a:blip>
          <a:srcRect/>
          <a:stretch/>
        </p:blipFill>
        <p:spPr>
          <a:xfrm>
            <a:off x="1158889" y="2093809"/>
            <a:ext cx="3124636" cy="3200847"/>
          </a:xfrm>
          <a:prstGeom prst="rect">
            <a:avLst/>
          </a:prstGeom>
          <a:noFill/>
          <a:ln>
            <a:noFill/>
          </a:ln>
        </p:spPr>
      </p:pic>
      <p:pic>
        <p:nvPicPr>
          <p:cNvPr id="265" name="Google Shape;265;p10"/>
          <p:cNvPicPr preferRelativeResize="0"/>
          <p:nvPr/>
        </p:nvPicPr>
        <p:blipFill rotWithShape="1">
          <a:blip r:embed="rId4">
            <a:alphaModFix/>
          </a:blip>
          <a:srcRect/>
          <a:stretch/>
        </p:blipFill>
        <p:spPr>
          <a:xfrm>
            <a:off x="7727278" y="2183712"/>
            <a:ext cx="3077004" cy="313416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8"/>
                                        </p:tgtEl>
                                        <p:attrNameLst>
                                          <p:attrName>style.visibility</p:attrName>
                                        </p:attrNameLst>
                                      </p:cBhvr>
                                      <p:to>
                                        <p:strVal val="visible"/>
                                      </p:to>
                                    </p:set>
                                    <p:animEffect transition="in" filter="fade">
                                      <p:cBhvr>
                                        <p:cTn id="7" dur="5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1"/>
          <p:cNvSpPr/>
          <p:nvPr/>
        </p:nvSpPr>
        <p:spPr>
          <a:xfrm>
            <a:off x="920000" y="1243200"/>
            <a:ext cx="10431900" cy="42288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1" name="Google Shape;271;p11"/>
          <p:cNvSpPr/>
          <p:nvPr/>
        </p:nvSpPr>
        <p:spPr>
          <a:xfrm>
            <a:off x="5300293" y="1411449"/>
            <a:ext cx="5876542" cy="3880562"/>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2" name="Google Shape;272;p11"/>
          <p:cNvSpPr txBox="1"/>
          <p:nvPr/>
        </p:nvSpPr>
        <p:spPr>
          <a:xfrm>
            <a:off x="920003" y="456677"/>
            <a:ext cx="10782300" cy="486059"/>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273" name="Google Shape;273;p11"/>
          <p:cNvSpPr txBox="1"/>
          <p:nvPr/>
        </p:nvSpPr>
        <p:spPr>
          <a:xfrm>
            <a:off x="1183569" y="1470200"/>
            <a:ext cx="3911100" cy="1816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La convolución es una operación matricial entre la matriz de entrada y el filtro o kernel convolucional, en donde se va recorriendo la matriz de entrada para obtener los valores en la matriz de salida. Nótese cómo los pixeles de entrada se transforman al aplicar el filtro.</a:t>
            </a:r>
            <a:endParaRPr/>
          </a:p>
        </p:txBody>
      </p:sp>
      <p:pic>
        <p:nvPicPr>
          <p:cNvPr id="274" name="Google Shape;274;p11" descr="¿Qué es la convolución? 3"/>
          <p:cNvPicPr preferRelativeResize="0"/>
          <p:nvPr/>
        </p:nvPicPr>
        <p:blipFill rotWithShape="1">
          <a:blip r:embed="rId3">
            <a:alphaModFix/>
          </a:blip>
          <a:srcRect/>
          <a:stretch/>
        </p:blipFill>
        <p:spPr>
          <a:xfrm>
            <a:off x="5617937" y="1547723"/>
            <a:ext cx="5241251" cy="361119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72"/>
                                        </p:tgtEl>
                                        <p:attrNameLst>
                                          <p:attrName>style.visibility</p:attrName>
                                        </p:attrNameLst>
                                      </p:cBhvr>
                                      <p:to>
                                        <p:strVal val="visible"/>
                                      </p:to>
                                    </p:set>
                                    <p:animEffect transition="in" filter="fade">
                                      <p:cBhvr>
                                        <p:cTn id="7" dur="500"/>
                                        <p:tgtEl>
                                          <p:spTgt spid="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2"/>
          <p:cNvSpPr/>
          <p:nvPr/>
        </p:nvSpPr>
        <p:spPr>
          <a:xfrm>
            <a:off x="704852" y="2011679"/>
            <a:ext cx="10085068" cy="4173185"/>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Calibri"/>
              <a:ea typeface="Calibri"/>
              <a:cs typeface="Calibri"/>
              <a:sym typeface="Calibri"/>
            </a:endParaRPr>
          </a:p>
        </p:txBody>
      </p:sp>
      <p:sp>
        <p:nvSpPr>
          <p:cNvPr id="280" name="Google Shape;280;p12"/>
          <p:cNvSpPr txBox="1"/>
          <p:nvPr/>
        </p:nvSpPr>
        <p:spPr>
          <a:xfrm>
            <a:off x="704852" y="472690"/>
            <a:ext cx="10784988"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281" name="Google Shape;281;p12"/>
          <p:cNvSpPr/>
          <p:nvPr/>
        </p:nvSpPr>
        <p:spPr>
          <a:xfrm>
            <a:off x="-99123" y="1182963"/>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2" name="Google Shape;282;p12"/>
          <p:cNvSpPr txBox="1"/>
          <p:nvPr/>
        </p:nvSpPr>
        <p:spPr>
          <a:xfrm>
            <a:off x="740229" y="1358723"/>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graphicFrame>
        <p:nvGraphicFramePr>
          <p:cNvPr id="283" name="Google Shape;283;p12"/>
          <p:cNvGraphicFramePr/>
          <p:nvPr/>
        </p:nvGraphicFramePr>
        <p:xfrm>
          <a:off x="2159697" y="2686782"/>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284" name="Google Shape;284;p12"/>
          <p:cNvSpPr txBox="1"/>
          <p:nvPr/>
        </p:nvSpPr>
        <p:spPr>
          <a:xfrm>
            <a:off x="2100778" y="2086604"/>
            <a:ext cx="2245939"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285" name="Google Shape;285;p12"/>
          <p:cNvSpPr txBox="1"/>
          <p:nvPr/>
        </p:nvSpPr>
        <p:spPr>
          <a:xfrm>
            <a:off x="5702475" y="2101589"/>
            <a:ext cx="109351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Filtro</a:t>
            </a:r>
            <a:endParaRPr/>
          </a:p>
        </p:txBody>
      </p:sp>
      <p:graphicFrame>
        <p:nvGraphicFramePr>
          <p:cNvPr id="286" name="Google Shape;286;p12"/>
          <p:cNvGraphicFramePr/>
          <p:nvPr/>
        </p:nvGraphicFramePr>
        <p:xfrm>
          <a:off x="5702475" y="3061433"/>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287" name="Google Shape;287;p12"/>
          <p:cNvGraphicFramePr/>
          <p:nvPr/>
        </p:nvGraphicFramePr>
        <p:xfrm>
          <a:off x="8456017" y="2822631"/>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288" name="Google Shape;288;p12"/>
          <p:cNvSpPr txBox="1"/>
          <p:nvPr/>
        </p:nvSpPr>
        <p:spPr>
          <a:xfrm>
            <a:off x="8456018" y="2086604"/>
            <a:ext cx="164026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graphicFrame>
        <p:nvGraphicFramePr>
          <p:cNvPr id="289" name="Google Shape;289;p12"/>
          <p:cNvGraphicFramePr/>
          <p:nvPr/>
        </p:nvGraphicFramePr>
        <p:xfrm>
          <a:off x="2100778" y="2609728"/>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290" name="Google Shape;290;p12"/>
          <p:cNvSpPr txBox="1"/>
          <p:nvPr/>
        </p:nvSpPr>
        <p:spPr>
          <a:xfrm>
            <a:off x="5846062" y="5044051"/>
            <a:ext cx="3835986" cy="276999"/>
          </a:xfrm>
          <a:prstGeom prst="rect">
            <a:avLst/>
          </a:prstGeom>
          <a:blipFill rotWithShape="1">
            <a:blip r:embed="rId3">
              <a:alphaModFix/>
            </a:blip>
            <a:stretch>
              <a:fillRect b="-652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sp>
        <p:nvSpPr>
          <p:cNvPr id="291" name="Google Shape;291;p12"/>
          <p:cNvSpPr txBox="1"/>
          <p:nvPr/>
        </p:nvSpPr>
        <p:spPr>
          <a:xfrm>
            <a:off x="1456969" y="5744571"/>
            <a:ext cx="3321807" cy="338554"/>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s-CL" sz="1600">
                <a:solidFill>
                  <a:srgbClr val="595959"/>
                </a:solidFill>
                <a:latin typeface="Calibri"/>
                <a:ea typeface="Calibri"/>
                <a:cs typeface="Calibri"/>
                <a:sym typeface="Calibri"/>
              </a:rPr>
              <a:t>(Multiplicación elemento a elemento)</a:t>
            </a:r>
            <a:endParaRPr/>
          </a:p>
        </p:txBody>
      </p:sp>
      <p:graphicFrame>
        <p:nvGraphicFramePr>
          <p:cNvPr id="292" name="Google Shape;292;p12"/>
          <p:cNvGraphicFramePr/>
          <p:nvPr/>
        </p:nvGraphicFramePr>
        <p:xfrm>
          <a:off x="3647129" y="4896545"/>
          <a:ext cx="3000000" cy="300000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293" name="Google Shape;293;p12"/>
          <p:cNvGraphicFramePr/>
          <p:nvPr/>
        </p:nvGraphicFramePr>
        <p:xfrm>
          <a:off x="2177135" y="4896545"/>
          <a:ext cx="3000000" cy="300000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10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30</a:t>
                      </a:r>
                      <a:endParaRPr/>
                    </a:p>
                  </a:txBody>
                  <a:tcPr marL="91450" marR="91450" marT="45725" marB="45725"/>
                </a:tc>
                <a:extLst>
                  <a:ext uri="{0D108BD9-81ED-4DB2-BD59-A6C34878D82A}">
                    <a16:rowId xmlns:a16="http://schemas.microsoft.com/office/drawing/2014/main" val="10001"/>
                  </a:ext>
                </a:extLst>
              </a:tr>
            </a:tbl>
          </a:graphicData>
        </a:graphic>
      </p:graphicFrame>
      <p:sp>
        <p:nvSpPr>
          <p:cNvPr id="294" name="Google Shape;294;p12"/>
          <p:cNvSpPr txBox="1"/>
          <p:nvPr/>
        </p:nvSpPr>
        <p:spPr>
          <a:xfrm>
            <a:off x="3130158" y="5017739"/>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295" name="Google Shape;295;p12"/>
          <p:cNvSpPr txBox="1"/>
          <p:nvPr/>
        </p:nvSpPr>
        <p:spPr>
          <a:xfrm>
            <a:off x="5117121" y="4997884"/>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296" name="Google Shape;296;p12"/>
          <p:cNvSpPr txBox="1"/>
          <p:nvPr/>
        </p:nvSpPr>
        <p:spPr>
          <a:xfrm>
            <a:off x="1456970" y="4667794"/>
            <a:ext cx="8639312" cy="984069"/>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80"/>
                                        </p:tgtEl>
                                        <p:attrNameLst>
                                          <p:attrName>style.visibility</p:attrName>
                                        </p:attrNameLst>
                                      </p:cBhvr>
                                      <p:to>
                                        <p:strVal val="visible"/>
                                      </p:to>
                                    </p:set>
                                    <p:animEffect transition="in" filter="fade">
                                      <p:cBhvr>
                                        <p:cTn id="7" dur="500"/>
                                        <p:tgtEl>
                                          <p:spTgt spid="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3"/>
          <p:cNvSpPr/>
          <p:nvPr/>
        </p:nvSpPr>
        <p:spPr>
          <a:xfrm>
            <a:off x="740229" y="1749355"/>
            <a:ext cx="10591038" cy="4509688"/>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02" name="Google Shape;302;p13"/>
          <p:cNvGraphicFramePr/>
          <p:nvPr/>
        </p:nvGraphicFramePr>
        <p:xfrm>
          <a:off x="2332502" y="2606729"/>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303" name="Google Shape;303;p13"/>
          <p:cNvSpPr txBox="1"/>
          <p:nvPr/>
        </p:nvSpPr>
        <p:spPr>
          <a:xfrm>
            <a:off x="2329426" y="2021536"/>
            <a:ext cx="2190095" cy="338554"/>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600">
                <a:solidFill>
                  <a:srgbClr val="595959"/>
                </a:solidFill>
                <a:latin typeface="Calibri"/>
                <a:ea typeface="Calibri"/>
                <a:cs typeface="Calibri"/>
                <a:sym typeface="Calibri"/>
              </a:rPr>
              <a:t>Imagen de entrada</a:t>
            </a:r>
            <a:endParaRPr/>
          </a:p>
        </p:txBody>
      </p:sp>
      <p:sp>
        <p:nvSpPr>
          <p:cNvPr id="304" name="Google Shape;304;p13"/>
          <p:cNvSpPr txBox="1"/>
          <p:nvPr/>
        </p:nvSpPr>
        <p:spPr>
          <a:xfrm>
            <a:off x="5875280" y="2021536"/>
            <a:ext cx="1093510" cy="338554"/>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600">
                <a:solidFill>
                  <a:srgbClr val="595959"/>
                </a:solidFill>
                <a:latin typeface="Calibri"/>
                <a:ea typeface="Calibri"/>
                <a:cs typeface="Calibri"/>
                <a:sym typeface="Calibri"/>
              </a:rPr>
              <a:t>Filtro</a:t>
            </a:r>
            <a:endParaRPr/>
          </a:p>
        </p:txBody>
      </p:sp>
      <p:graphicFrame>
        <p:nvGraphicFramePr>
          <p:cNvPr id="305" name="Google Shape;305;p13"/>
          <p:cNvGraphicFramePr/>
          <p:nvPr/>
        </p:nvGraphicFramePr>
        <p:xfrm>
          <a:off x="5875280" y="2981380"/>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06" name="Google Shape;306;p13"/>
          <p:cNvGraphicFramePr/>
          <p:nvPr/>
        </p:nvGraphicFramePr>
        <p:xfrm>
          <a:off x="8628822" y="2742578"/>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307" name="Google Shape;307;p13"/>
          <p:cNvSpPr txBox="1"/>
          <p:nvPr/>
        </p:nvSpPr>
        <p:spPr>
          <a:xfrm>
            <a:off x="8628821" y="2021536"/>
            <a:ext cx="1640265" cy="338554"/>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600">
                <a:solidFill>
                  <a:srgbClr val="595959"/>
                </a:solidFill>
                <a:latin typeface="Calibri"/>
                <a:ea typeface="Calibri"/>
                <a:cs typeface="Calibri"/>
                <a:sym typeface="Calibri"/>
              </a:rPr>
              <a:t>Salida</a:t>
            </a:r>
            <a:endParaRPr/>
          </a:p>
        </p:txBody>
      </p:sp>
      <p:graphicFrame>
        <p:nvGraphicFramePr>
          <p:cNvPr id="308" name="Google Shape;308;p13"/>
          <p:cNvGraphicFramePr/>
          <p:nvPr/>
        </p:nvGraphicFramePr>
        <p:xfrm>
          <a:off x="2810910" y="2529675"/>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309" name="Google Shape;309;p13"/>
          <p:cNvSpPr txBox="1"/>
          <p:nvPr/>
        </p:nvSpPr>
        <p:spPr>
          <a:xfrm>
            <a:off x="5998353" y="4976986"/>
            <a:ext cx="3835987" cy="276999"/>
          </a:xfrm>
          <a:prstGeom prst="rect">
            <a:avLst/>
          </a:prstGeom>
          <a:blipFill rotWithShape="1">
            <a:blip r:embed="rId3">
              <a:alphaModFix/>
            </a:blip>
            <a:stretch>
              <a:fillRect l="-1112" r="-952" b="-652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graphicFrame>
        <p:nvGraphicFramePr>
          <p:cNvPr id="310" name="Google Shape;310;p13"/>
          <p:cNvGraphicFramePr/>
          <p:nvPr/>
        </p:nvGraphicFramePr>
        <p:xfrm>
          <a:off x="3799420" y="4829480"/>
          <a:ext cx="3000000" cy="300000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311" name="Google Shape;311;p13"/>
          <p:cNvGraphicFramePr/>
          <p:nvPr/>
        </p:nvGraphicFramePr>
        <p:xfrm>
          <a:off x="2329426" y="4829480"/>
          <a:ext cx="3000000" cy="300000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10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30</a:t>
                      </a:r>
                      <a:endParaRPr/>
                    </a:p>
                  </a:txBody>
                  <a:tcPr marL="91450" marR="91450" marT="45725" marB="45725"/>
                </a:tc>
                <a:extLst>
                  <a:ext uri="{0D108BD9-81ED-4DB2-BD59-A6C34878D82A}">
                    <a16:rowId xmlns:a16="http://schemas.microsoft.com/office/drawing/2014/main" val="10001"/>
                  </a:ext>
                </a:extLst>
              </a:tr>
            </a:tbl>
          </a:graphicData>
        </a:graphic>
      </p:graphicFrame>
      <p:sp>
        <p:nvSpPr>
          <p:cNvPr id="312" name="Google Shape;312;p13"/>
          <p:cNvSpPr txBox="1"/>
          <p:nvPr/>
        </p:nvSpPr>
        <p:spPr>
          <a:xfrm>
            <a:off x="3282449" y="4950674"/>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313" name="Google Shape;313;p13"/>
          <p:cNvSpPr txBox="1"/>
          <p:nvPr/>
        </p:nvSpPr>
        <p:spPr>
          <a:xfrm>
            <a:off x="5269412" y="4930819"/>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314" name="Google Shape;314;p13"/>
          <p:cNvSpPr txBox="1"/>
          <p:nvPr/>
        </p:nvSpPr>
        <p:spPr>
          <a:xfrm>
            <a:off x="1749036" y="5733317"/>
            <a:ext cx="3321807" cy="338554"/>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600">
                <a:solidFill>
                  <a:srgbClr val="595959"/>
                </a:solidFill>
                <a:latin typeface="Calibri"/>
                <a:ea typeface="Calibri"/>
                <a:cs typeface="Calibri"/>
                <a:sym typeface="Calibri"/>
              </a:rPr>
              <a:t>(Multiplicación elemento a elemento)</a:t>
            </a:r>
            <a:endParaRPr/>
          </a:p>
        </p:txBody>
      </p:sp>
      <p:sp>
        <p:nvSpPr>
          <p:cNvPr id="315" name="Google Shape;315;p13"/>
          <p:cNvSpPr txBox="1"/>
          <p:nvPr/>
        </p:nvSpPr>
        <p:spPr>
          <a:xfrm>
            <a:off x="740229" y="233587"/>
            <a:ext cx="10784988" cy="53467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316" name="Google Shape;316;p13"/>
          <p:cNvSpPr/>
          <p:nvPr/>
        </p:nvSpPr>
        <p:spPr>
          <a:xfrm>
            <a:off x="-19376" y="860047"/>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17" name="Google Shape;317;p13"/>
          <p:cNvSpPr txBox="1"/>
          <p:nvPr/>
        </p:nvSpPr>
        <p:spPr>
          <a:xfrm>
            <a:off x="819976" y="1035807"/>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
        <p:nvSpPr>
          <p:cNvPr id="318" name="Google Shape;318;p13"/>
          <p:cNvSpPr txBox="1"/>
          <p:nvPr/>
        </p:nvSpPr>
        <p:spPr>
          <a:xfrm>
            <a:off x="1749036" y="4693920"/>
            <a:ext cx="8520051" cy="888274"/>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5"/>
                                        </p:tgtEl>
                                        <p:attrNameLst>
                                          <p:attrName>style.visibility</p:attrName>
                                        </p:attrNameLst>
                                      </p:cBhvr>
                                      <p:to>
                                        <p:strVal val="visible"/>
                                      </p:to>
                                    </p:set>
                                    <p:animEffect transition="in" filter="fade">
                                      <p:cBhvr>
                                        <p:cTn id="7" dur="500"/>
                                        <p:tgtEl>
                                          <p:spTgt spid="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4"/>
          <p:cNvSpPr/>
          <p:nvPr/>
        </p:nvSpPr>
        <p:spPr>
          <a:xfrm>
            <a:off x="740229" y="1872342"/>
            <a:ext cx="10591038" cy="4410022"/>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24" name="Google Shape;324;p14"/>
          <p:cNvGraphicFramePr/>
          <p:nvPr/>
        </p:nvGraphicFramePr>
        <p:xfrm>
          <a:off x="2200413" y="2625992"/>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325" name="Google Shape;325;p14"/>
          <p:cNvSpPr txBox="1"/>
          <p:nvPr/>
        </p:nvSpPr>
        <p:spPr>
          <a:xfrm>
            <a:off x="2200414" y="2040799"/>
            <a:ext cx="218702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326" name="Google Shape;326;p14"/>
          <p:cNvSpPr txBox="1"/>
          <p:nvPr/>
        </p:nvSpPr>
        <p:spPr>
          <a:xfrm>
            <a:off x="5743191" y="2040799"/>
            <a:ext cx="1093509"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Filtro</a:t>
            </a:r>
            <a:endParaRPr/>
          </a:p>
        </p:txBody>
      </p:sp>
      <p:graphicFrame>
        <p:nvGraphicFramePr>
          <p:cNvPr id="327" name="Google Shape;327;p14"/>
          <p:cNvGraphicFramePr/>
          <p:nvPr/>
        </p:nvGraphicFramePr>
        <p:xfrm>
          <a:off x="5743191" y="3000643"/>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28" name="Google Shape;328;p14"/>
          <p:cNvGraphicFramePr/>
          <p:nvPr/>
        </p:nvGraphicFramePr>
        <p:xfrm>
          <a:off x="8496733" y="2761841"/>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329" name="Google Shape;329;p14"/>
          <p:cNvSpPr txBox="1"/>
          <p:nvPr/>
        </p:nvSpPr>
        <p:spPr>
          <a:xfrm>
            <a:off x="8496734" y="2025814"/>
            <a:ext cx="164026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graphicFrame>
        <p:nvGraphicFramePr>
          <p:cNvPr id="330" name="Google Shape;330;p14"/>
          <p:cNvGraphicFramePr/>
          <p:nvPr/>
        </p:nvGraphicFramePr>
        <p:xfrm>
          <a:off x="3216149" y="2548938"/>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331" name="Google Shape;331;p14"/>
          <p:cNvSpPr txBox="1"/>
          <p:nvPr/>
        </p:nvSpPr>
        <p:spPr>
          <a:xfrm>
            <a:off x="5869340" y="4979333"/>
            <a:ext cx="3707746" cy="276999"/>
          </a:xfrm>
          <a:prstGeom prst="rect">
            <a:avLst/>
          </a:prstGeom>
          <a:blipFill rotWithShape="1">
            <a:blip r:embed="rId3">
              <a:alphaModFix/>
            </a:blip>
            <a:stretch>
              <a:fillRect l="-1150" r="-985" b="-666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graphicFrame>
        <p:nvGraphicFramePr>
          <p:cNvPr id="332" name="Google Shape;332;p14"/>
          <p:cNvGraphicFramePr/>
          <p:nvPr/>
        </p:nvGraphicFramePr>
        <p:xfrm>
          <a:off x="3670407" y="4831827"/>
          <a:ext cx="3000000" cy="300000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333" name="Google Shape;333;p14"/>
          <p:cNvGraphicFramePr/>
          <p:nvPr/>
        </p:nvGraphicFramePr>
        <p:xfrm>
          <a:off x="2200413" y="4831827"/>
          <a:ext cx="3000000" cy="300000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extLst>
                  <a:ext uri="{0D108BD9-81ED-4DB2-BD59-A6C34878D82A}">
                    <a16:rowId xmlns:a16="http://schemas.microsoft.com/office/drawing/2014/main" val="10001"/>
                  </a:ext>
                </a:extLst>
              </a:tr>
            </a:tbl>
          </a:graphicData>
        </a:graphic>
      </p:graphicFrame>
      <p:sp>
        <p:nvSpPr>
          <p:cNvPr id="334" name="Google Shape;334;p14"/>
          <p:cNvSpPr txBox="1"/>
          <p:nvPr/>
        </p:nvSpPr>
        <p:spPr>
          <a:xfrm>
            <a:off x="3153436" y="4953021"/>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335" name="Google Shape;335;p14"/>
          <p:cNvSpPr txBox="1"/>
          <p:nvPr/>
        </p:nvSpPr>
        <p:spPr>
          <a:xfrm>
            <a:off x="5140399" y="4933166"/>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336" name="Google Shape;336;p14"/>
          <p:cNvSpPr txBox="1"/>
          <p:nvPr/>
        </p:nvSpPr>
        <p:spPr>
          <a:xfrm>
            <a:off x="1716442" y="5740235"/>
            <a:ext cx="3321807" cy="338554"/>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600">
                <a:solidFill>
                  <a:srgbClr val="595959"/>
                </a:solidFill>
                <a:latin typeface="Calibri"/>
                <a:ea typeface="Calibri"/>
                <a:cs typeface="Calibri"/>
                <a:sym typeface="Calibri"/>
              </a:rPr>
              <a:t>(Multiplicación elemento a elemento)</a:t>
            </a:r>
            <a:endParaRPr/>
          </a:p>
        </p:txBody>
      </p:sp>
      <p:sp>
        <p:nvSpPr>
          <p:cNvPr id="337" name="Google Shape;337;p14"/>
          <p:cNvSpPr txBox="1"/>
          <p:nvPr/>
        </p:nvSpPr>
        <p:spPr>
          <a:xfrm>
            <a:off x="740229" y="387435"/>
            <a:ext cx="10784988" cy="53467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338" name="Google Shape;338;p14"/>
          <p:cNvSpPr/>
          <p:nvPr/>
        </p:nvSpPr>
        <p:spPr>
          <a:xfrm>
            <a:off x="-19376" y="1013895"/>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 name="Google Shape;339;p14"/>
          <p:cNvSpPr txBox="1"/>
          <p:nvPr/>
        </p:nvSpPr>
        <p:spPr>
          <a:xfrm>
            <a:off x="819976" y="1189655"/>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
        <p:nvSpPr>
          <p:cNvPr id="340" name="Google Shape;340;p14"/>
          <p:cNvSpPr txBox="1"/>
          <p:nvPr/>
        </p:nvSpPr>
        <p:spPr>
          <a:xfrm>
            <a:off x="1716442" y="4693671"/>
            <a:ext cx="8420556" cy="932017"/>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500"/>
                                        <p:tgtEl>
                                          <p:spTgt spid="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15"/>
          <p:cNvSpPr/>
          <p:nvPr/>
        </p:nvSpPr>
        <p:spPr>
          <a:xfrm>
            <a:off x="726913" y="1708324"/>
            <a:ext cx="10782298" cy="4493253"/>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46" name="Google Shape;346;p15"/>
          <p:cNvGraphicFramePr/>
          <p:nvPr/>
        </p:nvGraphicFramePr>
        <p:xfrm>
          <a:off x="2216174" y="2458127"/>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347" name="Google Shape;347;p15"/>
          <p:cNvSpPr txBox="1"/>
          <p:nvPr/>
        </p:nvSpPr>
        <p:spPr>
          <a:xfrm>
            <a:off x="2213097" y="1872934"/>
            <a:ext cx="2190097"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348" name="Google Shape;348;p15"/>
          <p:cNvSpPr txBox="1"/>
          <p:nvPr/>
        </p:nvSpPr>
        <p:spPr>
          <a:xfrm>
            <a:off x="5758952" y="1872934"/>
            <a:ext cx="109351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Filtro</a:t>
            </a:r>
            <a:endParaRPr/>
          </a:p>
        </p:txBody>
      </p:sp>
      <p:graphicFrame>
        <p:nvGraphicFramePr>
          <p:cNvPr id="349" name="Google Shape;349;p15"/>
          <p:cNvGraphicFramePr/>
          <p:nvPr/>
        </p:nvGraphicFramePr>
        <p:xfrm>
          <a:off x="5758952" y="2832778"/>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50" name="Google Shape;350;p15"/>
          <p:cNvGraphicFramePr/>
          <p:nvPr/>
        </p:nvGraphicFramePr>
        <p:xfrm>
          <a:off x="8512494" y="2593976"/>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351" name="Google Shape;351;p15"/>
          <p:cNvSpPr txBox="1"/>
          <p:nvPr/>
        </p:nvSpPr>
        <p:spPr>
          <a:xfrm>
            <a:off x="8512495" y="1857949"/>
            <a:ext cx="164026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graphicFrame>
        <p:nvGraphicFramePr>
          <p:cNvPr id="352" name="Google Shape;352;p15"/>
          <p:cNvGraphicFramePr/>
          <p:nvPr/>
        </p:nvGraphicFramePr>
        <p:xfrm>
          <a:off x="2147828" y="2832778"/>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353" name="Google Shape;353;p15"/>
          <p:cNvSpPr txBox="1"/>
          <p:nvPr/>
        </p:nvSpPr>
        <p:spPr>
          <a:xfrm>
            <a:off x="5882024" y="4848035"/>
            <a:ext cx="3835987" cy="276999"/>
          </a:xfrm>
          <a:prstGeom prst="rect">
            <a:avLst/>
          </a:prstGeom>
          <a:blipFill rotWithShape="1">
            <a:blip r:embed="rId3">
              <a:alphaModFix/>
            </a:blip>
            <a:stretch>
              <a:fillRect l="-1112" r="-952" b="-652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graphicFrame>
        <p:nvGraphicFramePr>
          <p:cNvPr id="354" name="Google Shape;354;p15"/>
          <p:cNvGraphicFramePr/>
          <p:nvPr/>
        </p:nvGraphicFramePr>
        <p:xfrm>
          <a:off x="3683091" y="4700529"/>
          <a:ext cx="3000000" cy="300000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355" name="Google Shape;355;p15"/>
          <p:cNvGraphicFramePr/>
          <p:nvPr/>
        </p:nvGraphicFramePr>
        <p:xfrm>
          <a:off x="2213097" y="4700529"/>
          <a:ext cx="3000000" cy="300000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30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extLst>
                  <a:ext uri="{0D108BD9-81ED-4DB2-BD59-A6C34878D82A}">
                    <a16:rowId xmlns:a16="http://schemas.microsoft.com/office/drawing/2014/main" val="10001"/>
                  </a:ext>
                </a:extLst>
              </a:tr>
            </a:tbl>
          </a:graphicData>
        </a:graphic>
      </p:graphicFrame>
      <p:sp>
        <p:nvSpPr>
          <p:cNvPr id="356" name="Google Shape;356;p15"/>
          <p:cNvSpPr txBox="1"/>
          <p:nvPr/>
        </p:nvSpPr>
        <p:spPr>
          <a:xfrm>
            <a:off x="3166120" y="4821723"/>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357" name="Google Shape;357;p15"/>
          <p:cNvSpPr txBox="1"/>
          <p:nvPr/>
        </p:nvSpPr>
        <p:spPr>
          <a:xfrm>
            <a:off x="5153083" y="4801868"/>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358" name="Google Shape;358;p15"/>
          <p:cNvSpPr txBox="1"/>
          <p:nvPr/>
        </p:nvSpPr>
        <p:spPr>
          <a:xfrm>
            <a:off x="1922559" y="5654603"/>
            <a:ext cx="372467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(Multiplicación elemento a elemento)</a:t>
            </a:r>
            <a:endParaRPr/>
          </a:p>
        </p:txBody>
      </p:sp>
      <p:sp>
        <p:nvSpPr>
          <p:cNvPr id="359" name="Google Shape;359;p15"/>
          <p:cNvSpPr txBox="1"/>
          <p:nvPr/>
        </p:nvSpPr>
        <p:spPr>
          <a:xfrm>
            <a:off x="815122" y="225725"/>
            <a:ext cx="10784988" cy="53467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360" name="Google Shape;360;p15"/>
          <p:cNvSpPr/>
          <p:nvPr/>
        </p:nvSpPr>
        <p:spPr>
          <a:xfrm>
            <a:off x="55517" y="852185"/>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61" name="Google Shape;361;p15"/>
          <p:cNvSpPr txBox="1"/>
          <p:nvPr/>
        </p:nvSpPr>
        <p:spPr>
          <a:xfrm>
            <a:off x="894869" y="1027945"/>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
        <p:nvSpPr>
          <p:cNvPr id="362" name="Google Shape;362;p15"/>
          <p:cNvSpPr txBox="1"/>
          <p:nvPr/>
        </p:nvSpPr>
        <p:spPr>
          <a:xfrm>
            <a:off x="1922559" y="4538535"/>
            <a:ext cx="8230200" cy="966651"/>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9"/>
                                        </p:tgtEl>
                                        <p:attrNameLst>
                                          <p:attrName>style.visibility</p:attrName>
                                        </p:attrNameLst>
                                      </p:cBhvr>
                                      <p:to>
                                        <p:strVal val="visible"/>
                                      </p:to>
                                    </p:set>
                                    <p:animEffect transition="in" filter="fade">
                                      <p:cBhvr>
                                        <p:cTn id="7" dur="500"/>
                                        <p:tgtEl>
                                          <p:spTgt spid="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16"/>
          <p:cNvSpPr/>
          <p:nvPr/>
        </p:nvSpPr>
        <p:spPr>
          <a:xfrm>
            <a:off x="704850" y="1820380"/>
            <a:ext cx="10782298" cy="4317852"/>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68" name="Google Shape;368;p16"/>
          <p:cNvGraphicFramePr/>
          <p:nvPr/>
        </p:nvGraphicFramePr>
        <p:xfrm>
          <a:off x="2159695" y="2649449"/>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369" name="Google Shape;369;p16"/>
          <p:cNvSpPr txBox="1"/>
          <p:nvPr/>
        </p:nvSpPr>
        <p:spPr>
          <a:xfrm>
            <a:off x="2159696" y="2064256"/>
            <a:ext cx="218702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370" name="Google Shape;370;p16"/>
          <p:cNvSpPr txBox="1"/>
          <p:nvPr/>
        </p:nvSpPr>
        <p:spPr>
          <a:xfrm>
            <a:off x="5702473" y="2064256"/>
            <a:ext cx="1093509"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Filtro</a:t>
            </a:r>
            <a:endParaRPr/>
          </a:p>
        </p:txBody>
      </p:sp>
      <p:graphicFrame>
        <p:nvGraphicFramePr>
          <p:cNvPr id="371" name="Google Shape;371;p16"/>
          <p:cNvGraphicFramePr/>
          <p:nvPr/>
        </p:nvGraphicFramePr>
        <p:xfrm>
          <a:off x="5702473" y="3024100"/>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72" name="Google Shape;372;p16"/>
          <p:cNvGraphicFramePr/>
          <p:nvPr/>
        </p:nvGraphicFramePr>
        <p:xfrm>
          <a:off x="8456015" y="2785298"/>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373" name="Google Shape;373;p16"/>
          <p:cNvSpPr txBox="1"/>
          <p:nvPr/>
        </p:nvSpPr>
        <p:spPr>
          <a:xfrm>
            <a:off x="8456015" y="2049271"/>
            <a:ext cx="1640265"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graphicFrame>
        <p:nvGraphicFramePr>
          <p:cNvPr id="374" name="Google Shape;374;p16"/>
          <p:cNvGraphicFramePr/>
          <p:nvPr/>
        </p:nvGraphicFramePr>
        <p:xfrm>
          <a:off x="2638105" y="3024100"/>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375" name="Google Shape;375;p16"/>
          <p:cNvSpPr txBox="1"/>
          <p:nvPr/>
        </p:nvSpPr>
        <p:spPr>
          <a:xfrm>
            <a:off x="5828622" y="4969379"/>
            <a:ext cx="3835987" cy="276999"/>
          </a:xfrm>
          <a:prstGeom prst="rect">
            <a:avLst/>
          </a:prstGeom>
          <a:blipFill rotWithShape="1">
            <a:blip r:embed="rId3">
              <a:alphaModFix/>
            </a:blip>
            <a:stretch>
              <a:fillRect l="-953" r="-1112" b="-652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graphicFrame>
        <p:nvGraphicFramePr>
          <p:cNvPr id="376" name="Google Shape;376;p16"/>
          <p:cNvGraphicFramePr/>
          <p:nvPr/>
        </p:nvGraphicFramePr>
        <p:xfrm>
          <a:off x="3629689" y="4821873"/>
          <a:ext cx="3000000" cy="300000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377" name="Google Shape;377;p16"/>
          <p:cNvGraphicFramePr/>
          <p:nvPr/>
        </p:nvGraphicFramePr>
        <p:xfrm>
          <a:off x="2159695" y="4821873"/>
          <a:ext cx="3000000" cy="300000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30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extLst>
                  <a:ext uri="{0D108BD9-81ED-4DB2-BD59-A6C34878D82A}">
                    <a16:rowId xmlns:a16="http://schemas.microsoft.com/office/drawing/2014/main" val="10001"/>
                  </a:ext>
                </a:extLst>
              </a:tr>
            </a:tbl>
          </a:graphicData>
        </a:graphic>
      </p:graphicFrame>
      <p:sp>
        <p:nvSpPr>
          <p:cNvPr id="378" name="Google Shape;378;p16"/>
          <p:cNvSpPr txBox="1"/>
          <p:nvPr/>
        </p:nvSpPr>
        <p:spPr>
          <a:xfrm>
            <a:off x="3112718" y="4943067"/>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379" name="Google Shape;379;p16"/>
          <p:cNvSpPr txBox="1"/>
          <p:nvPr/>
        </p:nvSpPr>
        <p:spPr>
          <a:xfrm>
            <a:off x="5099681" y="4923212"/>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380" name="Google Shape;380;p16"/>
          <p:cNvSpPr txBox="1"/>
          <p:nvPr/>
        </p:nvSpPr>
        <p:spPr>
          <a:xfrm>
            <a:off x="1439529" y="5669899"/>
            <a:ext cx="372467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(Multiplicación elemento a elemento)</a:t>
            </a:r>
            <a:endParaRPr/>
          </a:p>
        </p:txBody>
      </p:sp>
      <p:sp>
        <p:nvSpPr>
          <p:cNvPr id="381" name="Google Shape;381;p16"/>
          <p:cNvSpPr txBox="1"/>
          <p:nvPr/>
        </p:nvSpPr>
        <p:spPr>
          <a:xfrm>
            <a:off x="815122" y="225725"/>
            <a:ext cx="10784988" cy="53467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382" name="Google Shape;382;p16"/>
          <p:cNvSpPr/>
          <p:nvPr/>
        </p:nvSpPr>
        <p:spPr>
          <a:xfrm>
            <a:off x="55517" y="852185"/>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p16"/>
          <p:cNvSpPr txBox="1"/>
          <p:nvPr/>
        </p:nvSpPr>
        <p:spPr>
          <a:xfrm>
            <a:off x="894869" y="1027945"/>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1"/>
                                        </p:tgtEl>
                                        <p:attrNameLst>
                                          <p:attrName>style.visibility</p:attrName>
                                        </p:attrNameLst>
                                      </p:cBhvr>
                                      <p:to>
                                        <p:strVal val="visible"/>
                                      </p:to>
                                    </p:set>
                                    <p:animEffect transition="in" filter="fade">
                                      <p:cBhvr>
                                        <p:cTn id="7" dur="500"/>
                                        <p:tgtEl>
                                          <p:spTgt spid="3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17"/>
          <p:cNvSpPr/>
          <p:nvPr/>
        </p:nvSpPr>
        <p:spPr>
          <a:xfrm>
            <a:off x="704850" y="1702712"/>
            <a:ext cx="10591038" cy="4509688"/>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89" name="Google Shape;389;p17"/>
          <p:cNvGraphicFramePr/>
          <p:nvPr/>
        </p:nvGraphicFramePr>
        <p:xfrm>
          <a:off x="2041962" y="2500251"/>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390" name="Google Shape;390;p17"/>
          <p:cNvSpPr txBox="1"/>
          <p:nvPr/>
        </p:nvSpPr>
        <p:spPr>
          <a:xfrm>
            <a:off x="2041963" y="1915058"/>
            <a:ext cx="218702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391" name="Google Shape;391;p17"/>
          <p:cNvSpPr txBox="1"/>
          <p:nvPr/>
        </p:nvSpPr>
        <p:spPr>
          <a:xfrm>
            <a:off x="5584740" y="1915058"/>
            <a:ext cx="1093509"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Filtro</a:t>
            </a:r>
            <a:endParaRPr/>
          </a:p>
        </p:txBody>
      </p:sp>
      <p:graphicFrame>
        <p:nvGraphicFramePr>
          <p:cNvPr id="392" name="Google Shape;392;p17"/>
          <p:cNvGraphicFramePr/>
          <p:nvPr/>
        </p:nvGraphicFramePr>
        <p:xfrm>
          <a:off x="5584740" y="2874902"/>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393" name="Google Shape;393;p17"/>
          <p:cNvGraphicFramePr/>
          <p:nvPr/>
        </p:nvGraphicFramePr>
        <p:xfrm>
          <a:off x="8338282" y="2636100"/>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394" name="Google Shape;394;p17"/>
          <p:cNvSpPr txBox="1"/>
          <p:nvPr/>
        </p:nvSpPr>
        <p:spPr>
          <a:xfrm>
            <a:off x="8338283" y="1900073"/>
            <a:ext cx="164026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graphicFrame>
        <p:nvGraphicFramePr>
          <p:cNvPr id="395" name="Google Shape;395;p17"/>
          <p:cNvGraphicFramePr/>
          <p:nvPr/>
        </p:nvGraphicFramePr>
        <p:xfrm>
          <a:off x="3048274" y="2874902"/>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396" name="Google Shape;396;p17"/>
          <p:cNvSpPr txBox="1"/>
          <p:nvPr/>
        </p:nvSpPr>
        <p:spPr>
          <a:xfrm>
            <a:off x="5710889" y="4863367"/>
            <a:ext cx="3835987" cy="276999"/>
          </a:xfrm>
          <a:prstGeom prst="rect">
            <a:avLst/>
          </a:prstGeom>
          <a:blipFill rotWithShape="1">
            <a:blip r:embed="rId3">
              <a:alphaModFix/>
            </a:blip>
            <a:stretch>
              <a:fillRect l="-1112" r="-1111" b="-888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graphicFrame>
        <p:nvGraphicFramePr>
          <p:cNvPr id="397" name="Google Shape;397;p17"/>
          <p:cNvGraphicFramePr/>
          <p:nvPr/>
        </p:nvGraphicFramePr>
        <p:xfrm>
          <a:off x="3511956" y="4715861"/>
          <a:ext cx="3000000" cy="300000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398" name="Google Shape;398;p17"/>
          <p:cNvGraphicFramePr/>
          <p:nvPr/>
        </p:nvGraphicFramePr>
        <p:xfrm>
          <a:off x="2041962" y="4715861"/>
          <a:ext cx="3000000" cy="300000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10</a:t>
                      </a:r>
                      <a:endParaRPr/>
                    </a:p>
                  </a:txBody>
                  <a:tcPr marL="91450" marR="91450" marT="45725" marB="45725"/>
                </a:tc>
                <a:extLst>
                  <a:ext uri="{0D108BD9-81ED-4DB2-BD59-A6C34878D82A}">
                    <a16:rowId xmlns:a16="http://schemas.microsoft.com/office/drawing/2014/main" val="10001"/>
                  </a:ext>
                </a:extLst>
              </a:tr>
            </a:tbl>
          </a:graphicData>
        </a:graphic>
      </p:graphicFrame>
      <p:sp>
        <p:nvSpPr>
          <p:cNvPr id="399" name="Google Shape;399;p17"/>
          <p:cNvSpPr txBox="1"/>
          <p:nvPr/>
        </p:nvSpPr>
        <p:spPr>
          <a:xfrm>
            <a:off x="2994985" y="4837055"/>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400" name="Google Shape;400;p17"/>
          <p:cNvSpPr txBox="1"/>
          <p:nvPr/>
        </p:nvSpPr>
        <p:spPr>
          <a:xfrm>
            <a:off x="4981948" y="4817200"/>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401" name="Google Shape;401;p17"/>
          <p:cNvSpPr txBox="1"/>
          <p:nvPr/>
        </p:nvSpPr>
        <p:spPr>
          <a:xfrm>
            <a:off x="1407315" y="5642227"/>
            <a:ext cx="372467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(Multiplicación elemento a elemento)</a:t>
            </a:r>
            <a:endParaRPr/>
          </a:p>
        </p:txBody>
      </p:sp>
      <p:sp>
        <p:nvSpPr>
          <p:cNvPr id="402" name="Google Shape;402;p17"/>
          <p:cNvSpPr txBox="1"/>
          <p:nvPr/>
        </p:nvSpPr>
        <p:spPr>
          <a:xfrm>
            <a:off x="1407315" y="4519749"/>
            <a:ext cx="8571232" cy="984068"/>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3" name="Google Shape;403;p17"/>
          <p:cNvSpPr txBox="1"/>
          <p:nvPr/>
        </p:nvSpPr>
        <p:spPr>
          <a:xfrm>
            <a:off x="815122" y="225725"/>
            <a:ext cx="10784988" cy="53467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404" name="Google Shape;404;p17"/>
          <p:cNvSpPr/>
          <p:nvPr/>
        </p:nvSpPr>
        <p:spPr>
          <a:xfrm>
            <a:off x="55517" y="852185"/>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5" name="Google Shape;405;p17"/>
          <p:cNvSpPr txBox="1"/>
          <p:nvPr/>
        </p:nvSpPr>
        <p:spPr>
          <a:xfrm>
            <a:off x="894869" y="1027945"/>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3"/>
                                        </p:tgtEl>
                                        <p:attrNameLst>
                                          <p:attrName>style.visibility</p:attrName>
                                        </p:attrNameLst>
                                      </p:cBhvr>
                                      <p:to>
                                        <p:strVal val="visible"/>
                                      </p:to>
                                    </p:set>
                                    <p:animEffect transition="in" filter="fade">
                                      <p:cBhvr>
                                        <p:cTn id="7" dur="500"/>
                                        <p:tgtEl>
                                          <p:spTgt spid="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18"/>
          <p:cNvSpPr/>
          <p:nvPr/>
        </p:nvSpPr>
        <p:spPr>
          <a:xfrm>
            <a:off x="704849" y="1837248"/>
            <a:ext cx="10591038" cy="4475335"/>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411" name="Google Shape;411;p18"/>
          <p:cNvGraphicFramePr/>
          <p:nvPr/>
        </p:nvGraphicFramePr>
        <p:xfrm>
          <a:off x="1981329" y="2658551"/>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412" name="Google Shape;412;p18"/>
          <p:cNvSpPr txBox="1"/>
          <p:nvPr/>
        </p:nvSpPr>
        <p:spPr>
          <a:xfrm>
            <a:off x="1981330" y="2096511"/>
            <a:ext cx="218702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413" name="Google Shape;413;p18"/>
          <p:cNvSpPr txBox="1"/>
          <p:nvPr/>
        </p:nvSpPr>
        <p:spPr>
          <a:xfrm>
            <a:off x="5524108" y="2096511"/>
            <a:ext cx="109351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Filtro</a:t>
            </a:r>
            <a:endParaRPr/>
          </a:p>
        </p:txBody>
      </p:sp>
      <p:graphicFrame>
        <p:nvGraphicFramePr>
          <p:cNvPr id="414" name="Google Shape;414;p18"/>
          <p:cNvGraphicFramePr/>
          <p:nvPr/>
        </p:nvGraphicFramePr>
        <p:xfrm>
          <a:off x="5524107" y="3033202"/>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415" name="Google Shape;415;p18"/>
          <p:cNvGraphicFramePr/>
          <p:nvPr/>
        </p:nvGraphicFramePr>
        <p:xfrm>
          <a:off x="8277649" y="2794400"/>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416" name="Google Shape;416;p18"/>
          <p:cNvSpPr txBox="1"/>
          <p:nvPr/>
        </p:nvSpPr>
        <p:spPr>
          <a:xfrm>
            <a:off x="8277649" y="2081526"/>
            <a:ext cx="1640265"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graphicFrame>
        <p:nvGraphicFramePr>
          <p:cNvPr id="417" name="Google Shape;417;p18"/>
          <p:cNvGraphicFramePr/>
          <p:nvPr/>
        </p:nvGraphicFramePr>
        <p:xfrm>
          <a:off x="1912983" y="3505196"/>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418" name="Google Shape;418;p18"/>
          <p:cNvSpPr txBox="1"/>
          <p:nvPr/>
        </p:nvSpPr>
        <p:spPr>
          <a:xfrm>
            <a:off x="5650256" y="5028538"/>
            <a:ext cx="3579506" cy="276999"/>
          </a:xfrm>
          <a:prstGeom prst="rect">
            <a:avLst/>
          </a:prstGeom>
          <a:blipFill rotWithShape="1">
            <a:blip r:embed="rId3">
              <a:alphaModFix/>
            </a:blip>
            <a:stretch>
              <a:fillRect l="-1192" r="-1021" b="-888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graphicFrame>
        <p:nvGraphicFramePr>
          <p:cNvPr id="419" name="Google Shape;419;p18"/>
          <p:cNvGraphicFramePr/>
          <p:nvPr/>
        </p:nvGraphicFramePr>
        <p:xfrm>
          <a:off x="3451323" y="4881032"/>
          <a:ext cx="3000000" cy="300000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420" name="Google Shape;420;p18"/>
          <p:cNvGraphicFramePr/>
          <p:nvPr/>
        </p:nvGraphicFramePr>
        <p:xfrm>
          <a:off x="1981329" y="4881032"/>
          <a:ext cx="3000000" cy="300000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5</a:t>
                      </a:r>
                      <a:endParaRPr/>
                    </a:p>
                  </a:txBody>
                  <a:tcPr marL="91450" marR="91450" marT="45725" marB="45725"/>
                </a:tc>
                <a:extLst>
                  <a:ext uri="{0D108BD9-81ED-4DB2-BD59-A6C34878D82A}">
                    <a16:rowId xmlns:a16="http://schemas.microsoft.com/office/drawing/2014/main" val="10001"/>
                  </a:ext>
                </a:extLst>
              </a:tr>
            </a:tbl>
          </a:graphicData>
        </a:graphic>
      </p:graphicFrame>
      <p:sp>
        <p:nvSpPr>
          <p:cNvPr id="421" name="Google Shape;421;p18"/>
          <p:cNvSpPr txBox="1"/>
          <p:nvPr/>
        </p:nvSpPr>
        <p:spPr>
          <a:xfrm>
            <a:off x="2934352" y="5002226"/>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422" name="Google Shape;422;p18"/>
          <p:cNvSpPr txBox="1"/>
          <p:nvPr/>
        </p:nvSpPr>
        <p:spPr>
          <a:xfrm>
            <a:off x="4921315" y="4982371"/>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423" name="Google Shape;423;p18"/>
          <p:cNvSpPr txBox="1"/>
          <p:nvPr/>
        </p:nvSpPr>
        <p:spPr>
          <a:xfrm>
            <a:off x="1853469" y="5772242"/>
            <a:ext cx="3329822"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600">
                <a:solidFill>
                  <a:srgbClr val="595959"/>
                </a:solidFill>
                <a:latin typeface="Calibri"/>
                <a:ea typeface="Calibri"/>
                <a:cs typeface="Calibri"/>
                <a:sym typeface="Calibri"/>
              </a:rPr>
              <a:t>(Multiplicación elemento a elemento</a:t>
            </a:r>
            <a:r>
              <a:rPr lang="es-CL" sz="1800">
                <a:solidFill>
                  <a:srgbClr val="595959"/>
                </a:solidFill>
                <a:latin typeface="Calibri"/>
                <a:ea typeface="Calibri"/>
                <a:cs typeface="Calibri"/>
                <a:sym typeface="Calibri"/>
              </a:rPr>
              <a:t>)</a:t>
            </a:r>
            <a:endParaRPr/>
          </a:p>
        </p:txBody>
      </p:sp>
      <p:sp>
        <p:nvSpPr>
          <p:cNvPr id="424" name="Google Shape;424;p18"/>
          <p:cNvSpPr txBox="1"/>
          <p:nvPr/>
        </p:nvSpPr>
        <p:spPr>
          <a:xfrm>
            <a:off x="815122" y="225725"/>
            <a:ext cx="10784988" cy="53467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425" name="Google Shape;425;p18"/>
          <p:cNvSpPr/>
          <p:nvPr/>
        </p:nvSpPr>
        <p:spPr>
          <a:xfrm>
            <a:off x="55517" y="852185"/>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6" name="Google Shape;426;p18"/>
          <p:cNvSpPr txBox="1"/>
          <p:nvPr/>
        </p:nvSpPr>
        <p:spPr>
          <a:xfrm>
            <a:off x="894869" y="1027945"/>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
        <p:nvSpPr>
          <p:cNvPr id="427" name="Google Shape;427;p18"/>
          <p:cNvSpPr txBox="1"/>
          <p:nvPr/>
        </p:nvSpPr>
        <p:spPr>
          <a:xfrm>
            <a:off x="1853469" y="4802512"/>
            <a:ext cx="8064446" cy="798721"/>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500"/>
                                        <p:tgtEl>
                                          <p:spTgt spid="4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19"/>
          <p:cNvSpPr/>
          <p:nvPr/>
        </p:nvSpPr>
        <p:spPr>
          <a:xfrm>
            <a:off x="696144" y="1708324"/>
            <a:ext cx="10782298" cy="4493253"/>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433" name="Google Shape;433;p19"/>
          <p:cNvGraphicFramePr/>
          <p:nvPr/>
        </p:nvGraphicFramePr>
        <p:xfrm>
          <a:off x="2216460" y="2470895"/>
          <a:ext cx="2187000" cy="19104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434" name="Google Shape;434;p19"/>
          <p:cNvSpPr txBox="1"/>
          <p:nvPr/>
        </p:nvSpPr>
        <p:spPr>
          <a:xfrm>
            <a:off x="2213385" y="1885702"/>
            <a:ext cx="2190096"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Imagen de entrada</a:t>
            </a:r>
            <a:endParaRPr/>
          </a:p>
        </p:txBody>
      </p:sp>
      <p:sp>
        <p:nvSpPr>
          <p:cNvPr id="435" name="Google Shape;435;p19"/>
          <p:cNvSpPr txBox="1"/>
          <p:nvPr/>
        </p:nvSpPr>
        <p:spPr>
          <a:xfrm>
            <a:off x="5759238" y="1885702"/>
            <a:ext cx="1093509"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Filtro</a:t>
            </a:r>
            <a:endParaRPr/>
          </a:p>
        </p:txBody>
      </p:sp>
      <p:graphicFrame>
        <p:nvGraphicFramePr>
          <p:cNvPr id="436" name="Google Shape;436;p19"/>
          <p:cNvGraphicFramePr/>
          <p:nvPr/>
        </p:nvGraphicFramePr>
        <p:xfrm>
          <a:off x="5759238" y="2845546"/>
          <a:ext cx="1093500" cy="9552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437" name="Google Shape;437;p19"/>
          <p:cNvGraphicFramePr/>
          <p:nvPr/>
        </p:nvGraphicFramePr>
        <p:xfrm>
          <a:off x="8512780" y="2606744"/>
          <a:ext cx="1640250" cy="14328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endParaRPr sz="1800" u="none" strike="noStrike" cap="none"/>
                    </a:p>
                  </a:txBody>
                  <a:tcPr marL="91450" marR="91450" marT="45725" marB="45725"/>
                </a:tc>
                <a:extLst>
                  <a:ext uri="{0D108BD9-81ED-4DB2-BD59-A6C34878D82A}">
                    <a16:rowId xmlns:a16="http://schemas.microsoft.com/office/drawing/2014/main" val="10002"/>
                  </a:ext>
                </a:extLst>
              </a:tr>
            </a:tbl>
          </a:graphicData>
        </a:graphic>
      </p:graphicFrame>
      <p:sp>
        <p:nvSpPr>
          <p:cNvPr id="438" name="Google Shape;438;p19"/>
          <p:cNvSpPr txBox="1"/>
          <p:nvPr/>
        </p:nvSpPr>
        <p:spPr>
          <a:xfrm>
            <a:off x="8512780" y="1870717"/>
            <a:ext cx="1640265"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Salida</a:t>
            </a:r>
            <a:endParaRPr/>
          </a:p>
        </p:txBody>
      </p:sp>
      <p:graphicFrame>
        <p:nvGraphicFramePr>
          <p:cNvPr id="439" name="Google Shape;439;p19"/>
          <p:cNvGraphicFramePr/>
          <p:nvPr/>
        </p:nvGraphicFramePr>
        <p:xfrm>
          <a:off x="2694869" y="3317540"/>
          <a:ext cx="1249850" cy="113945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440" name="Google Shape;440;p19"/>
          <p:cNvSpPr txBox="1"/>
          <p:nvPr/>
        </p:nvSpPr>
        <p:spPr>
          <a:xfrm>
            <a:off x="5882311" y="4864212"/>
            <a:ext cx="3579506" cy="276999"/>
          </a:xfrm>
          <a:prstGeom prst="rect">
            <a:avLst/>
          </a:prstGeom>
          <a:blipFill rotWithShape="1">
            <a:blip r:embed="rId3">
              <a:alphaModFix/>
            </a:blip>
            <a:stretch>
              <a:fillRect l="-1192" r="-1021" b="-888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graphicFrame>
        <p:nvGraphicFramePr>
          <p:cNvPr id="441" name="Google Shape;441;p19"/>
          <p:cNvGraphicFramePr/>
          <p:nvPr/>
        </p:nvGraphicFramePr>
        <p:xfrm>
          <a:off x="3683378" y="4716706"/>
          <a:ext cx="720100" cy="62905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442" name="Google Shape;442;p19"/>
          <p:cNvGraphicFramePr/>
          <p:nvPr/>
        </p:nvGraphicFramePr>
        <p:xfrm>
          <a:off x="2213384" y="4716706"/>
          <a:ext cx="720100" cy="63855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5</a:t>
                      </a:r>
                      <a:endParaRPr/>
                    </a:p>
                  </a:txBody>
                  <a:tcPr marL="91450" marR="91450" marT="45725" marB="45725"/>
                </a:tc>
                <a:extLst>
                  <a:ext uri="{0D108BD9-81ED-4DB2-BD59-A6C34878D82A}">
                    <a16:rowId xmlns:a16="http://schemas.microsoft.com/office/drawing/2014/main" val="10001"/>
                  </a:ext>
                </a:extLst>
              </a:tr>
            </a:tbl>
          </a:graphicData>
        </a:graphic>
      </p:graphicFrame>
      <p:sp>
        <p:nvSpPr>
          <p:cNvPr id="443" name="Google Shape;443;p19"/>
          <p:cNvSpPr txBox="1"/>
          <p:nvPr/>
        </p:nvSpPr>
        <p:spPr>
          <a:xfrm>
            <a:off x="3166407" y="4837900"/>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444" name="Google Shape;444;p19"/>
          <p:cNvSpPr txBox="1"/>
          <p:nvPr/>
        </p:nvSpPr>
        <p:spPr>
          <a:xfrm>
            <a:off x="5153370" y="4818045"/>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445" name="Google Shape;445;p19"/>
          <p:cNvSpPr txBox="1"/>
          <p:nvPr/>
        </p:nvSpPr>
        <p:spPr>
          <a:xfrm>
            <a:off x="1712068" y="5647456"/>
            <a:ext cx="3321807" cy="338554"/>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600">
                <a:solidFill>
                  <a:schemeClr val="dk1"/>
                </a:solidFill>
                <a:latin typeface="Calibri"/>
                <a:ea typeface="Calibri"/>
                <a:cs typeface="Calibri"/>
                <a:sym typeface="Calibri"/>
              </a:rPr>
              <a:t>(Multiplicación elemento a elemento)</a:t>
            </a:r>
            <a:endParaRPr/>
          </a:p>
        </p:txBody>
      </p:sp>
      <p:sp>
        <p:nvSpPr>
          <p:cNvPr id="446" name="Google Shape;446;p19"/>
          <p:cNvSpPr txBox="1"/>
          <p:nvPr/>
        </p:nvSpPr>
        <p:spPr>
          <a:xfrm>
            <a:off x="815122" y="225725"/>
            <a:ext cx="10784988" cy="53467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447" name="Google Shape;447;p19"/>
          <p:cNvSpPr/>
          <p:nvPr/>
        </p:nvSpPr>
        <p:spPr>
          <a:xfrm>
            <a:off x="55517" y="852185"/>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8" name="Google Shape;448;p19"/>
          <p:cNvSpPr txBox="1"/>
          <p:nvPr/>
        </p:nvSpPr>
        <p:spPr>
          <a:xfrm>
            <a:off x="894869" y="1027945"/>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
        <p:nvSpPr>
          <p:cNvPr id="449" name="Google Shape;449;p19"/>
          <p:cNvSpPr txBox="1"/>
          <p:nvPr/>
        </p:nvSpPr>
        <p:spPr>
          <a:xfrm>
            <a:off x="1712067" y="4554583"/>
            <a:ext cx="8581463" cy="984068"/>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46"/>
                                        </p:tgtEl>
                                        <p:attrNameLst>
                                          <p:attrName>style.visibility</p:attrName>
                                        </p:attrNameLst>
                                      </p:cBhvr>
                                      <p:to>
                                        <p:strVal val="visible"/>
                                      </p:to>
                                    </p:set>
                                    <p:animEffect transition="in" filter="fade">
                                      <p:cBhvr>
                                        <p:cTn id="7" dur="500"/>
                                        <p:tgtEl>
                                          <p:spTgt spid="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20"/>
          <p:cNvSpPr/>
          <p:nvPr/>
        </p:nvSpPr>
        <p:spPr>
          <a:xfrm>
            <a:off x="744331" y="1708324"/>
            <a:ext cx="10782298" cy="4317852"/>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455" name="Google Shape;455;p20"/>
          <p:cNvGraphicFramePr/>
          <p:nvPr/>
        </p:nvGraphicFramePr>
        <p:xfrm>
          <a:off x="2253000" y="2494316"/>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3"/>
                  </a:ext>
                </a:extLst>
              </a:tr>
            </a:tbl>
          </a:graphicData>
        </a:graphic>
      </p:graphicFrame>
      <p:sp>
        <p:nvSpPr>
          <p:cNvPr id="456" name="Google Shape;456;p20"/>
          <p:cNvSpPr txBox="1"/>
          <p:nvPr/>
        </p:nvSpPr>
        <p:spPr>
          <a:xfrm>
            <a:off x="2249924" y="1909123"/>
            <a:ext cx="2190095"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457" name="Google Shape;457;p20"/>
          <p:cNvSpPr txBox="1"/>
          <p:nvPr/>
        </p:nvSpPr>
        <p:spPr>
          <a:xfrm>
            <a:off x="5795778" y="1909123"/>
            <a:ext cx="109351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Filtro</a:t>
            </a:r>
            <a:endParaRPr/>
          </a:p>
        </p:txBody>
      </p:sp>
      <p:graphicFrame>
        <p:nvGraphicFramePr>
          <p:cNvPr id="458" name="Google Shape;458;p20"/>
          <p:cNvGraphicFramePr/>
          <p:nvPr/>
        </p:nvGraphicFramePr>
        <p:xfrm>
          <a:off x="5795778" y="2868967"/>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a:t>
                      </a:r>
                      <a:endParaRPr/>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459" name="Google Shape;459;p20"/>
          <p:cNvGraphicFramePr/>
          <p:nvPr/>
        </p:nvGraphicFramePr>
        <p:xfrm>
          <a:off x="8549320" y="2630165"/>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tblGrid>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60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70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50</a:t>
                      </a:r>
                      <a:endParaRPr/>
                    </a:p>
                  </a:txBody>
                  <a:tcPr marL="91450" marR="91450" marT="45725" marB="45725"/>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tc>
                <a:extLst>
                  <a:ext uri="{0D108BD9-81ED-4DB2-BD59-A6C34878D82A}">
                    <a16:rowId xmlns:a16="http://schemas.microsoft.com/office/drawing/2014/main" val="10002"/>
                  </a:ext>
                </a:extLst>
              </a:tr>
            </a:tbl>
          </a:graphicData>
        </a:graphic>
      </p:graphicFrame>
      <p:sp>
        <p:nvSpPr>
          <p:cNvPr id="460" name="Google Shape;460;p20"/>
          <p:cNvSpPr txBox="1"/>
          <p:nvPr/>
        </p:nvSpPr>
        <p:spPr>
          <a:xfrm>
            <a:off x="8549321" y="1894138"/>
            <a:ext cx="164026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graphicFrame>
        <p:nvGraphicFramePr>
          <p:cNvPr id="461" name="Google Shape;461;p20"/>
          <p:cNvGraphicFramePr/>
          <p:nvPr/>
        </p:nvGraphicFramePr>
        <p:xfrm>
          <a:off x="3268737" y="3340961"/>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462" name="Google Shape;462;p20"/>
          <p:cNvSpPr txBox="1"/>
          <p:nvPr/>
        </p:nvSpPr>
        <p:spPr>
          <a:xfrm>
            <a:off x="5918851" y="4828233"/>
            <a:ext cx="3579506" cy="276999"/>
          </a:xfrm>
          <a:prstGeom prst="rect">
            <a:avLst/>
          </a:prstGeom>
          <a:blipFill rotWithShape="1">
            <a:blip r:embed="rId3">
              <a:alphaModFix/>
            </a:blip>
            <a:stretch>
              <a:fillRect l="-1192" r="-1021" b="-888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CL" sz="1800">
                <a:latin typeface="Calibri"/>
                <a:ea typeface="Calibri"/>
                <a:cs typeface="Calibri"/>
                <a:sym typeface="Calibri"/>
              </a:rPr>
              <a:t> </a:t>
            </a:r>
            <a:endParaRPr/>
          </a:p>
        </p:txBody>
      </p:sp>
      <p:graphicFrame>
        <p:nvGraphicFramePr>
          <p:cNvPr id="463" name="Google Shape;463;p20"/>
          <p:cNvGraphicFramePr/>
          <p:nvPr/>
        </p:nvGraphicFramePr>
        <p:xfrm>
          <a:off x="3719918" y="4680727"/>
          <a:ext cx="3000000" cy="3000000"/>
        </p:xfrm>
        <a:graphic>
          <a:graphicData uri="http://schemas.openxmlformats.org/drawingml/2006/table">
            <a:tbl>
              <a:tblPr>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4525">
                <a:tc>
                  <a:txBody>
                    <a:bodyPr/>
                    <a:lstStyle/>
                    <a:p>
                      <a:pPr marL="0" marR="0" lvl="0" indent="0" algn="ctr" rtl="0">
                        <a:spcBef>
                          <a:spcPts val="0"/>
                        </a:spcBef>
                        <a:spcAft>
                          <a:spcPts val="0"/>
                        </a:spcAft>
                        <a:buNone/>
                      </a:pPr>
                      <a:r>
                        <a:rPr lang="es-CL" sz="1200" u="none" strike="noStrike" cap="none"/>
                        <a:t>1</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extLst>
                  <a:ext uri="{0D108BD9-81ED-4DB2-BD59-A6C34878D82A}">
                    <a16:rowId xmlns:a16="http://schemas.microsoft.com/office/drawing/2014/main" val="10000"/>
                  </a:ext>
                </a:extLst>
              </a:tr>
              <a:tr h="314525">
                <a:tc>
                  <a:txBody>
                    <a:bodyPr/>
                    <a:lstStyle/>
                    <a:p>
                      <a:pPr marL="0" marR="0" lvl="0" indent="0" algn="ctr" rtl="0">
                        <a:spcBef>
                          <a:spcPts val="0"/>
                        </a:spcBef>
                        <a:spcAft>
                          <a:spcPts val="0"/>
                        </a:spcAft>
                        <a:buNone/>
                      </a:pPr>
                      <a:r>
                        <a:rPr lang="es-CL" sz="1200" u="none" strike="noStrike" cap="none"/>
                        <a:t>0</a:t>
                      </a:r>
                      <a:endParaRPr/>
                    </a:p>
                  </a:txBody>
                  <a:tcPr marL="60225" marR="60225" marT="30100" marB="30100"/>
                </a:tc>
                <a:tc>
                  <a:txBody>
                    <a:bodyPr/>
                    <a:lstStyle/>
                    <a:p>
                      <a:pPr marL="0" marR="0" lvl="0" indent="0" algn="ctr" rtl="0">
                        <a:spcBef>
                          <a:spcPts val="0"/>
                        </a:spcBef>
                        <a:spcAft>
                          <a:spcPts val="0"/>
                        </a:spcAft>
                        <a:buNone/>
                      </a:pPr>
                      <a:r>
                        <a:rPr lang="es-CL" sz="1200" u="none" strike="noStrike" cap="none"/>
                        <a:t>2</a:t>
                      </a:r>
                      <a:endParaRPr/>
                    </a:p>
                  </a:txBody>
                  <a:tcPr marL="60225" marR="60225" marT="30100" marB="30100"/>
                </a:tc>
                <a:extLst>
                  <a:ext uri="{0D108BD9-81ED-4DB2-BD59-A6C34878D82A}">
                    <a16:rowId xmlns:a16="http://schemas.microsoft.com/office/drawing/2014/main" val="10001"/>
                  </a:ext>
                </a:extLst>
              </a:tr>
            </a:tbl>
          </a:graphicData>
        </a:graphic>
      </p:graphicFrame>
      <p:graphicFrame>
        <p:nvGraphicFramePr>
          <p:cNvPr id="464" name="Google Shape;464;p20"/>
          <p:cNvGraphicFramePr/>
          <p:nvPr/>
        </p:nvGraphicFramePr>
        <p:xfrm>
          <a:off x="2249924" y="4680727"/>
          <a:ext cx="3000000" cy="3000000"/>
        </p:xfrm>
        <a:graphic>
          <a:graphicData uri="http://schemas.openxmlformats.org/drawingml/2006/table">
            <a:tbl>
              <a:tblPr firstRow="1" bandRow="1">
                <a:noFill/>
                <a:tableStyleId>{C0BC39BE-2890-48C1-93AC-A100E66445B5}</a:tableStyleId>
              </a:tblPr>
              <a:tblGrid>
                <a:gridCol w="360050">
                  <a:extLst>
                    <a:ext uri="{9D8B030D-6E8A-4147-A177-3AD203B41FA5}">
                      <a16:colId xmlns:a16="http://schemas.microsoft.com/office/drawing/2014/main" val="20000"/>
                    </a:ext>
                  </a:extLst>
                </a:gridCol>
                <a:gridCol w="360050">
                  <a:extLst>
                    <a:ext uri="{9D8B030D-6E8A-4147-A177-3AD203B41FA5}">
                      <a16:colId xmlns:a16="http://schemas.microsoft.com/office/drawing/2014/main" val="20001"/>
                    </a:ext>
                  </a:extLst>
                </a:gridCol>
              </a:tblGrid>
              <a:tr h="319275">
                <a:tc>
                  <a:txBody>
                    <a:bodyPr/>
                    <a:lstStyle/>
                    <a:p>
                      <a:pPr marL="0" marR="0" lvl="0" indent="0" algn="ctr" rtl="0">
                        <a:spcBef>
                          <a:spcPts val="0"/>
                        </a:spcBef>
                        <a:spcAft>
                          <a:spcPts val="0"/>
                        </a:spcAft>
                        <a:buNone/>
                      </a:pPr>
                      <a:r>
                        <a:rPr lang="es-CL" sz="1200" u="none" strike="noStrike" cap="none"/>
                        <a:t>20</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10</a:t>
                      </a:r>
                      <a:endParaRPr/>
                    </a:p>
                  </a:txBody>
                  <a:tcPr marL="91450" marR="91450" marT="45725" marB="45725"/>
                </a:tc>
                <a:extLst>
                  <a:ext uri="{0D108BD9-81ED-4DB2-BD59-A6C34878D82A}">
                    <a16:rowId xmlns:a16="http://schemas.microsoft.com/office/drawing/2014/main" val="10000"/>
                  </a:ext>
                </a:extLst>
              </a:tr>
              <a:tr h="319275">
                <a:tc>
                  <a:txBody>
                    <a:bodyPr/>
                    <a:lstStyle/>
                    <a:p>
                      <a:pPr marL="0" marR="0" lvl="0" indent="0" algn="ctr" rtl="0">
                        <a:spcBef>
                          <a:spcPts val="0"/>
                        </a:spcBef>
                        <a:spcAft>
                          <a:spcPts val="0"/>
                        </a:spcAft>
                        <a:buNone/>
                      </a:pPr>
                      <a:r>
                        <a:rPr lang="es-CL" sz="1200" u="none" strike="noStrike" cap="none"/>
                        <a:t>5</a:t>
                      </a:r>
                      <a:endParaRPr/>
                    </a:p>
                  </a:txBody>
                  <a:tcPr marL="91450" marR="91450" marT="45725" marB="45725"/>
                </a:tc>
                <a:tc>
                  <a:txBody>
                    <a:bodyPr/>
                    <a:lstStyle/>
                    <a:p>
                      <a:pPr marL="0" marR="0" lvl="0" indent="0" algn="ctr" rtl="0">
                        <a:spcBef>
                          <a:spcPts val="0"/>
                        </a:spcBef>
                        <a:spcAft>
                          <a:spcPts val="0"/>
                        </a:spcAft>
                        <a:buNone/>
                      </a:pPr>
                      <a:r>
                        <a:rPr lang="es-CL" sz="1200" u="none" strike="noStrike" cap="none"/>
                        <a:t>0</a:t>
                      </a:r>
                      <a:endParaRPr/>
                    </a:p>
                  </a:txBody>
                  <a:tcPr marL="91450" marR="91450" marT="45725" marB="45725"/>
                </a:tc>
                <a:extLst>
                  <a:ext uri="{0D108BD9-81ED-4DB2-BD59-A6C34878D82A}">
                    <a16:rowId xmlns:a16="http://schemas.microsoft.com/office/drawing/2014/main" val="10001"/>
                  </a:ext>
                </a:extLst>
              </a:tr>
            </a:tbl>
          </a:graphicData>
        </a:graphic>
      </p:graphicFrame>
      <p:sp>
        <p:nvSpPr>
          <p:cNvPr id="465" name="Google Shape;465;p20"/>
          <p:cNvSpPr txBox="1"/>
          <p:nvPr/>
        </p:nvSpPr>
        <p:spPr>
          <a:xfrm>
            <a:off x="3202947" y="4801921"/>
            <a:ext cx="28405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x</a:t>
            </a:r>
            <a:endParaRPr/>
          </a:p>
        </p:txBody>
      </p:sp>
      <p:sp>
        <p:nvSpPr>
          <p:cNvPr id="466" name="Google Shape;466;p20"/>
          <p:cNvSpPr txBox="1"/>
          <p:nvPr/>
        </p:nvSpPr>
        <p:spPr>
          <a:xfrm>
            <a:off x="5189910" y="4782066"/>
            <a:ext cx="30008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dk1"/>
                </a:solidFill>
                <a:latin typeface="Calibri"/>
                <a:ea typeface="Calibri"/>
                <a:cs typeface="Calibri"/>
                <a:sym typeface="Calibri"/>
              </a:rPr>
              <a:t>=</a:t>
            </a:r>
            <a:endParaRPr/>
          </a:p>
        </p:txBody>
      </p:sp>
      <p:sp>
        <p:nvSpPr>
          <p:cNvPr id="467" name="Google Shape;467;p20"/>
          <p:cNvSpPr txBox="1"/>
          <p:nvPr/>
        </p:nvSpPr>
        <p:spPr>
          <a:xfrm>
            <a:off x="1529758" y="5528753"/>
            <a:ext cx="372467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(Multiplicación elemento a elemento)</a:t>
            </a:r>
            <a:endParaRPr/>
          </a:p>
        </p:txBody>
      </p:sp>
      <p:sp>
        <p:nvSpPr>
          <p:cNvPr id="468" name="Google Shape;468;p20"/>
          <p:cNvSpPr txBox="1"/>
          <p:nvPr/>
        </p:nvSpPr>
        <p:spPr>
          <a:xfrm>
            <a:off x="815122" y="225725"/>
            <a:ext cx="10784988" cy="534673"/>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Convolución</a:t>
            </a:r>
            <a:endParaRPr/>
          </a:p>
        </p:txBody>
      </p:sp>
      <p:sp>
        <p:nvSpPr>
          <p:cNvPr id="469" name="Google Shape;469;p20"/>
          <p:cNvSpPr/>
          <p:nvPr/>
        </p:nvSpPr>
        <p:spPr>
          <a:xfrm>
            <a:off x="55517" y="852185"/>
            <a:ext cx="12395626" cy="68037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0" name="Google Shape;470;p20"/>
          <p:cNvSpPr txBox="1"/>
          <p:nvPr/>
        </p:nvSpPr>
        <p:spPr>
          <a:xfrm>
            <a:off x="894869" y="1027945"/>
            <a:ext cx="3291839" cy="40011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a:solidFill>
                  <a:schemeClr val="lt1"/>
                </a:solidFill>
                <a:latin typeface="Calibri"/>
                <a:ea typeface="Calibri"/>
                <a:cs typeface="Calibri"/>
                <a:sym typeface="Calibri"/>
              </a:rPr>
              <a:t>De forma gráfica</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sp>
        <p:nvSpPr>
          <p:cNvPr id="471" name="Google Shape;471;p20"/>
          <p:cNvSpPr txBox="1"/>
          <p:nvPr/>
        </p:nvSpPr>
        <p:spPr>
          <a:xfrm>
            <a:off x="1529759" y="4567491"/>
            <a:ext cx="8659826" cy="833171"/>
          </a:xfrm>
          <a:prstGeom prst="rect">
            <a:avLst/>
          </a:prstGeom>
          <a:no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8"/>
                                        </p:tgtEl>
                                        <p:attrNameLst>
                                          <p:attrName>style.visibility</p:attrName>
                                        </p:attrNameLst>
                                      </p:cBhvr>
                                      <p:to>
                                        <p:strVal val="visible"/>
                                      </p:to>
                                    </p:set>
                                    <p:animEffect transition="in" filter="fade">
                                      <p:cBhvr>
                                        <p:cTn id="7" dur="500"/>
                                        <p:tgtEl>
                                          <p:spTgt spid="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21"/>
          <p:cNvSpPr/>
          <p:nvPr/>
        </p:nvSpPr>
        <p:spPr>
          <a:xfrm>
            <a:off x="-233082" y="1580069"/>
            <a:ext cx="7789684" cy="3385541"/>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7" name="Google Shape;477;p21"/>
          <p:cNvSpPr txBox="1"/>
          <p:nvPr/>
        </p:nvSpPr>
        <p:spPr>
          <a:xfrm>
            <a:off x="817205" y="942284"/>
            <a:ext cx="5578613" cy="442166"/>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CL" sz="3200">
                <a:solidFill>
                  <a:srgbClr val="7F7F7F"/>
                </a:solidFill>
                <a:latin typeface="Arial"/>
                <a:ea typeface="Arial"/>
                <a:cs typeface="Arial"/>
                <a:sym typeface="Arial"/>
              </a:rPr>
              <a:t>Operación de Convolución</a:t>
            </a:r>
            <a:endParaRPr sz="3200">
              <a:solidFill>
                <a:srgbClr val="7F7F7F"/>
              </a:solidFill>
              <a:latin typeface="Arial"/>
              <a:ea typeface="Arial"/>
              <a:cs typeface="Arial"/>
              <a:sym typeface="Arial"/>
            </a:endParaRPr>
          </a:p>
        </p:txBody>
      </p:sp>
      <p:sp>
        <p:nvSpPr>
          <p:cNvPr id="478" name="Google Shape;478;p21"/>
          <p:cNvSpPr txBox="1"/>
          <p:nvPr/>
        </p:nvSpPr>
        <p:spPr>
          <a:xfrm>
            <a:off x="817205" y="1703180"/>
            <a:ext cx="5578500" cy="31401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800">
                <a:solidFill>
                  <a:schemeClr val="lt1"/>
                </a:solidFill>
                <a:latin typeface="Calibri"/>
                <a:ea typeface="Calibri"/>
                <a:cs typeface="Calibri"/>
                <a:sym typeface="Calibri"/>
              </a:rPr>
              <a:t>La mayoría de las veces necesitamos que el tamaño de la imagen de entrada sea ​​igual al tamaño de la imagen de salida . Pero cuando aplicamos una multiplicación de filtro, normalmente perdemos dimensiones. Puede ver la dimensión de salida en la imagen gif arriba donde la matriz 5 * 5 se reduce a 3 * 3 .</a:t>
            </a:r>
            <a:endParaRPr/>
          </a:p>
          <a:p>
            <a:pPr marL="0" marR="0" lvl="0" indent="0" algn="just" rtl="0">
              <a:spcBef>
                <a:spcPts val="0"/>
              </a:spcBef>
              <a:spcAft>
                <a:spcPts val="0"/>
              </a:spcAft>
              <a:buNone/>
            </a:pPr>
            <a:endParaRPr sz="1800">
              <a:solidFill>
                <a:schemeClr val="lt1"/>
              </a:solidFill>
              <a:latin typeface="Calibri"/>
              <a:ea typeface="Calibri"/>
              <a:cs typeface="Calibri"/>
              <a:sym typeface="Calibri"/>
            </a:endParaRPr>
          </a:p>
          <a:p>
            <a:pPr marL="0" marR="0" lvl="0" indent="0" algn="just" rtl="0">
              <a:spcBef>
                <a:spcPts val="0"/>
              </a:spcBef>
              <a:spcAft>
                <a:spcPts val="0"/>
              </a:spcAft>
              <a:buNone/>
            </a:pPr>
            <a:r>
              <a:rPr lang="es-CL" sz="1800">
                <a:solidFill>
                  <a:schemeClr val="lt1"/>
                </a:solidFill>
                <a:latin typeface="Calibri"/>
                <a:ea typeface="Calibri"/>
                <a:cs typeface="Calibri"/>
                <a:sym typeface="Calibri"/>
              </a:rPr>
              <a:t>Para mantener intactas las dimensiones , es decir, para mantener las dimensiones de entrada frente a salida según las necesidades del usuario , utilizamos un concepto de </a:t>
            </a:r>
            <a:r>
              <a:rPr lang="es-CL" sz="1800" b="1">
                <a:solidFill>
                  <a:schemeClr val="lt1"/>
                </a:solidFill>
                <a:latin typeface="Calibri"/>
                <a:ea typeface="Calibri"/>
                <a:cs typeface="Calibri"/>
                <a:sym typeface="Calibri"/>
              </a:rPr>
              <a:t>relleno</a:t>
            </a:r>
            <a:r>
              <a:rPr lang="es-CL" sz="1800">
                <a:solidFill>
                  <a:schemeClr val="lt1"/>
                </a:solidFill>
                <a:latin typeface="Calibri"/>
                <a:ea typeface="Calibri"/>
                <a:cs typeface="Calibri"/>
                <a:sym typeface="Calibri"/>
              </a:rPr>
              <a:t>.</a:t>
            </a:r>
            <a:endParaRPr sz="1600">
              <a:solidFill>
                <a:schemeClr val="lt1"/>
              </a:solidFill>
              <a:latin typeface="Arial"/>
              <a:ea typeface="Arial"/>
              <a:cs typeface="Arial"/>
              <a:sym typeface="Arial"/>
            </a:endParaRPr>
          </a:p>
        </p:txBody>
      </p:sp>
      <p:sp>
        <p:nvSpPr>
          <p:cNvPr id="479" name="Google Shape;479;p21"/>
          <p:cNvSpPr/>
          <p:nvPr/>
        </p:nvSpPr>
        <p:spPr>
          <a:xfrm>
            <a:off x="7305846" y="958201"/>
            <a:ext cx="4588470" cy="4610947"/>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80" name="Google Shape;480;p21" descr="Padding a pic"/>
          <p:cNvPicPr preferRelativeResize="0"/>
          <p:nvPr/>
        </p:nvPicPr>
        <p:blipFill rotWithShape="1">
          <a:blip r:embed="rId3">
            <a:alphaModFix/>
          </a:blip>
          <a:srcRect/>
          <a:stretch/>
        </p:blipFill>
        <p:spPr>
          <a:xfrm>
            <a:off x="7859324" y="1449161"/>
            <a:ext cx="3762375" cy="3629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7"/>
                                        </p:tgtEl>
                                        <p:attrNameLst>
                                          <p:attrName>style.visibility</p:attrName>
                                        </p:attrNameLst>
                                      </p:cBhvr>
                                      <p:to>
                                        <p:strVal val="visible"/>
                                      </p:to>
                                    </p:set>
                                    <p:animEffect transition="in" filter="fade">
                                      <p:cBhvr>
                                        <p:cTn id="7" dur="500"/>
                                        <p:tgtEl>
                                          <p:spTgt spid="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22"/>
          <p:cNvSpPr/>
          <p:nvPr/>
        </p:nvSpPr>
        <p:spPr>
          <a:xfrm>
            <a:off x="704850" y="952791"/>
            <a:ext cx="10782299" cy="5291255"/>
          </a:xfrm>
          <a:prstGeom prst="roundRect">
            <a:avLst>
              <a:gd name="adj" fmla="val 2971"/>
            </a:avLst>
          </a:prstGeom>
          <a:solidFill>
            <a:schemeClr val="lt1"/>
          </a:solidFill>
          <a:ln w="38100" cap="flat" cmpd="sng">
            <a:solidFill>
              <a:srgbClr val="F6A12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6" name="Google Shape;486;p22"/>
          <p:cNvSpPr/>
          <p:nvPr/>
        </p:nvSpPr>
        <p:spPr>
          <a:xfrm>
            <a:off x="2203512" y="1090431"/>
            <a:ext cx="7809302" cy="4648518"/>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7" name="Google Shape;487;p22"/>
          <p:cNvSpPr txBox="1"/>
          <p:nvPr/>
        </p:nvSpPr>
        <p:spPr>
          <a:xfrm>
            <a:off x="717012" y="221635"/>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Playground Filtros Convolutivos</a:t>
            </a:r>
            <a:endParaRPr sz="3200">
              <a:solidFill>
                <a:srgbClr val="7F7F7F"/>
              </a:solidFill>
              <a:latin typeface="Arial"/>
              <a:ea typeface="Arial"/>
              <a:cs typeface="Arial"/>
              <a:sym typeface="Arial"/>
            </a:endParaRPr>
          </a:p>
        </p:txBody>
      </p:sp>
      <p:pic>
        <p:nvPicPr>
          <p:cNvPr id="488" name="Google Shape;488;p22"/>
          <p:cNvPicPr preferRelativeResize="0"/>
          <p:nvPr/>
        </p:nvPicPr>
        <p:blipFill rotWithShape="1">
          <a:blip r:embed="rId3">
            <a:alphaModFix/>
          </a:blip>
          <a:srcRect b="863"/>
          <a:stretch/>
        </p:blipFill>
        <p:spPr>
          <a:xfrm>
            <a:off x="2311306" y="1142699"/>
            <a:ext cx="7593713" cy="4415656"/>
          </a:xfrm>
          <a:prstGeom prst="rect">
            <a:avLst/>
          </a:prstGeom>
          <a:noFill/>
          <a:ln>
            <a:noFill/>
          </a:ln>
        </p:spPr>
      </p:pic>
      <p:sp>
        <p:nvSpPr>
          <p:cNvPr id="489" name="Google Shape;489;p22"/>
          <p:cNvSpPr txBox="1"/>
          <p:nvPr/>
        </p:nvSpPr>
        <p:spPr>
          <a:xfrm>
            <a:off x="2203512" y="5801381"/>
            <a:ext cx="7809300" cy="307800"/>
          </a:xfrm>
          <a:prstGeom prst="rect">
            <a:avLst/>
          </a:prstGeom>
          <a:solidFill>
            <a:srgbClr val="F2F2F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a:solidFill>
                  <a:srgbClr val="7F7F7F"/>
                </a:solidFill>
                <a:latin typeface="Calibri"/>
                <a:ea typeface="Calibri"/>
                <a:cs typeface="Calibri"/>
                <a:sym typeface="Calibri"/>
              </a:rPr>
              <a:t>https://setosa.io/ev/image-kernels/</a:t>
            </a:r>
            <a:endParaRPr sz="12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7"/>
                                        </p:tgtEl>
                                        <p:attrNameLst>
                                          <p:attrName>style.visibility</p:attrName>
                                        </p:attrNameLst>
                                      </p:cBhvr>
                                      <p:to>
                                        <p:strVal val="visible"/>
                                      </p:to>
                                    </p:set>
                                    <p:animEffect transition="in" filter="fade">
                                      <p:cBhvr>
                                        <p:cTn id="7" dur="500"/>
                                        <p:tgtEl>
                                          <p:spTgt spid="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23"/>
          <p:cNvSpPr/>
          <p:nvPr/>
        </p:nvSpPr>
        <p:spPr>
          <a:xfrm>
            <a:off x="2021248" y="2115699"/>
            <a:ext cx="8149506" cy="4157085"/>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5" name="Google Shape;495;p23"/>
          <p:cNvSpPr txBox="1"/>
          <p:nvPr/>
        </p:nvSpPr>
        <p:spPr>
          <a:xfrm>
            <a:off x="1690890" y="249047"/>
            <a:ext cx="979626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1D, 2D y 3D</a:t>
            </a:r>
            <a:endParaRPr/>
          </a:p>
        </p:txBody>
      </p:sp>
      <p:sp>
        <p:nvSpPr>
          <p:cNvPr id="496" name="Google Shape;496;p23"/>
          <p:cNvSpPr/>
          <p:nvPr/>
        </p:nvSpPr>
        <p:spPr>
          <a:xfrm>
            <a:off x="-1153097" y="1010874"/>
            <a:ext cx="13859447" cy="853196"/>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97" name="Google Shape;497;p23"/>
          <p:cNvSpPr txBox="1"/>
          <p:nvPr/>
        </p:nvSpPr>
        <p:spPr>
          <a:xfrm>
            <a:off x="1690890" y="1127116"/>
            <a:ext cx="8726098" cy="5847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Cuando se trata de datos 1D, 2D o 3D, la única diferencia en convoluciones es la forma de la matriz de entrada seguida de la forma de los filtros que se ajustan en consecuencia según las dimensiones.</a:t>
            </a:r>
            <a:endParaRPr/>
          </a:p>
        </p:txBody>
      </p:sp>
      <p:pic>
        <p:nvPicPr>
          <p:cNvPr id="498" name="Google Shape;498;p23" descr="2D Filters"/>
          <p:cNvPicPr preferRelativeResize="0"/>
          <p:nvPr/>
        </p:nvPicPr>
        <p:blipFill rotWithShape="1">
          <a:blip r:embed="rId3">
            <a:alphaModFix/>
          </a:blip>
          <a:srcRect/>
          <a:stretch/>
        </p:blipFill>
        <p:spPr>
          <a:xfrm>
            <a:off x="2335868" y="2317937"/>
            <a:ext cx="2857500" cy="2695575"/>
          </a:xfrm>
          <a:prstGeom prst="rect">
            <a:avLst/>
          </a:prstGeom>
          <a:noFill/>
          <a:ln>
            <a:noFill/>
          </a:ln>
        </p:spPr>
      </p:pic>
      <p:grpSp>
        <p:nvGrpSpPr>
          <p:cNvPr id="499" name="Google Shape;499;p23"/>
          <p:cNvGrpSpPr/>
          <p:nvPr/>
        </p:nvGrpSpPr>
        <p:grpSpPr>
          <a:xfrm>
            <a:off x="7014901" y="2317937"/>
            <a:ext cx="2857500" cy="2842915"/>
            <a:chOff x="6788281" y="2193130"/>
            <a:chExt cx="2857500" cy="2842915"/>
          </a:xfrm>
        </p:grpSpPr>
        <p:pic>
          <p:nvPicPr>
            <p:cNvPr id="500" name="Google Shape;500;p23" descr="3D Filters"/>
            <p:cNvPicPr preferRelativeResize="0"/>
            <p:nvPr/>
          </p:nvPicPr>
          <p:blipFill rotWithShape="1">
            <a:blip r:embed="rId4">
              <a:alphaModFix/>
            </a:blip>
            <a:srcRect/>
            <a:stretch/>
          </p:blipFill>
          <p:spPr>
            <a:xfrm>
              <a:off x="6788281" y="2654795"/>
              <a:ext cx="2857500" cy="2381250"/>
            </a:xfrm>
            <a:prstGeom prst="rect">
              <a:avLst/>
            </a:prstGeom>
            <a:noFill/>
            <a:ln>
              <a:noFill/>
            </a:ln>
          </p:spPr>
        </p:pic>
        <p:sp>
          <p:nvSpPr>
            <p:cNvPr id="501" name="Google Shape;501;p23"/>
            <p:cNvSpPr txBox="1"/>
            <p:nvPr/>
          </p:nvSpPr>
          <p:spPr>
            <a:xfrm>
              <a:off x="7108794" y="2193130"/>
              <a:ext cx="64946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2400">
                  <a:solidFill>
                    <a:schemeClr val="dk1"/>
                  </a:solidFill>
                  <a:latin typeface="Calibri"/>
                  <a:ea typeface="Calibri"/>
                  <a:cs typeface="Calibri"/>
                  <a:sym typeface="Calibri"/>
                </a:rPr>
                <a:t>3D</a:t>
              </a:r>
              <a:endParaRPr/>
            </a:p>
          </p:txBody>
        </p:sp>
      </p:grpSp>
      <p:sp>
        <p:nvSpPr>
          <p:cNvPr id="502" name="Google Shape;502;p23"/>
          <p:cNvSpPr txBox="1"/>
          <p:nvPr/>
        </p:nvSpPr>
        <p:spPr>
          <a:xfrm>
            <a:off x="2438399" y="5298920"/>
            <a:ext cx="2754969" cy="52322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400">
                <a:solidFill>
                  <a:schemeClr val="dk1"/>
                </a:solidFill>
                <a:latin typeface="Calibri"/>
                <a:ea typeface="Calibri"/>
                <a:cs typeface="Calibri"/>
                <a:sym typeface="Calibri"/>
              </a:rPr>
              <a:t>Imágenes en escala de grises son representadas por matrices 2D</a:t>
            </a:r>
            <a:endParaRPr/>
          </a:p>
        </p:txBody>
      </p:sp>
      <p:sp>
        <p:nvSpPr>
          <p:cNvPr id="503" name="Google Shape;503;p23"/>
          <p:cNvSpPr txBox="1"/>
          <p:nvPr/>
        </p:nvSpPr>
        <p:spPr>
          <a:xfrm>
            <a:off x="6571129" y="5298920"/>
            <a:ext cx="3119718" cy="738664"/>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400">
                <a:solidFill>
                  <a:schemeClr val="dk1"/>
                </a:solidFill>
                <a:latin typeface="Calibri"/>
                <a:ea typeface="Calibri"/>
                <a:cs typeface="Calibri"/>
                <a:sym typeface="Calibri"/>
              </a:rPr>
              <a:t>Imágenes en color son representadas por matrices 3D, puesto que la tercera dimensión es el canal de color (R, G, B)</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5"/>
                                        </p:tgtEl>
                                        <p:attrNameLst>
                                          <p:attrName>style.visibility</p:attrName>
                                        </p:attrNameLst>
                                      </p:cBhvr>
                                      <p:to>
                                        <p:strVal val="visible"/>
                                      </p:to>
                                    </p:set>
                                    <p:animEffect transition="in" filter="fade">
                                      <p:cBhvr>
                                        <p:cTn id="7" dur="500"/>
                                        <p:tgtEl>
                                          <p:spTgt spid="4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24"/>
          <p:cNvSpPr/>
          <p:nvPr/>
        </p:nvSpPr>
        <p:spPr>
          <a:xfrm>
            <a:off x="204600" y="1326775"/>
            <a:ext cx="11782800" cy="45630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9" name="Google Shape;509;p24"/>
          <p:cNvSpPr/>
          <p:nvPr/>
        </p:nvSpPr>
        <p:spPr>
          <a:xfrm>
            <a:off x="4293725" y="1467377"/>
            <a:ext cx="7524300" cy="4198500"/>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0" name="Google Shape;510;p24"/>
          <p:cNvSpPr txBox="1"/>
          <p:nvPr/>
        </p:nvSpPr>
        <p:spPr>
          <a:xfrm>
            <a:off x="380680" y="639203"/>
            <a:ext cx="9184200" cy="469500"/>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Pooling</a:t>
            </a:r>
            <a:endParaRPr sz="3200">
              <a:solidFill>
                <a:srgbClr val="7F7F7F"/>
              </a:solidFill>
              <a:latin typeface="Arial"/>
              <a:ea typeface="Arial"/>
              <a:cs typeface="Arial"/>
              <a:sym typeface="Arial"/>
            </a:endParaRPr>
          </a:p>
        </p:txBody>
      </p:sp>
      <p:sp>
        <p:nvSpPr>
          <p:cNvPr id="511" name="Google Shape;511;p24"/>
          <p:cNvSpPr txBox="1"/>
          <p:nvPr/>
        </p:nvSpPr>
        <p:spPr>
          <a:xfrm>
            <a:off x="431625" y="1467375"/>
            <a:ext cx="3647100" cy="4278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Pooling (también conocido como subsampling) es una técnica comúnmente utilizada en la capa de reducción de una red neuronal convolucional (CNN) para reducir la dimensionalidad de los mapas de características obtenidos por las capas convolucionales anteriores.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CL" sz="1600">
                <a:solidFill>
                  <a:schemeClr val="lt1"/>
                </a:solidFill>
                <a:latin typeface="Calibri"/>
                <a:ea typeface="Calibri"/>
                <a:cs typeface="Calibri"/>
                <a:sym typeface="Calibri"/>
              </a:rPr>
              <a:t>El resultado de la operación de pooling es una versión reducida del mapa de características original con menos dimensiones espaciales y, por lo tanto, menos información. Sin embargo, esto puede ser beneficioso para reducir el costo computacional y la complejidad del modelo, y también puede ayudar a prevenir el sobreajuste en algunos casos.</a:t>
            </a:r>
            <a:endParaRPr sz="1600">
              <a:solidFill>
                <a:schemeClr val="lt1"/>
              </a:solidFill>
              <a:latin typeface="Calibri"/>
              <a:ea typeface="Calibri"/>
              <a:cs typeface="Calibri"/>
              <a:sym typeface="Calibri"/>
            </a:endParaRPr>
          </a:p>
        </p:txBody>
      </p:sp>
      <p:pic>
        <p:nvPicPr>
          <p:cNvPr id="512" name="Google Shape;512;p24"/>
          <p:cNvPicPr preferRelativeResize="0"/>
          <p:nvPr/>
        </p:nvPicPr>
        <p:blipFill rotWithShape="1">
          <a:blip r:embed="rId3">
            <a:alphaModFix/>
          </a:blip>
          <a:srcRect/>
          <a:stretch/>
        </p:blipFill>
        <p:spPr>
          <a:xfrm>
            <a:off x="4407812" y="2141468"/>
            <a:ext cx="7296150" cy="2590800"/>
          </a:xfrm>
          <a:prstGeom prst="rect">
            <a:avLst/>
          </a:prstGeom>
          <a:noFill/>
          <a:ln>
            <a:noFill/>
          </a:ln>
        </p:spPr>
      </p:pic>
      <p:sp>
        <p:nvSpPr>
          <p:cNvPr id="513" name="Google Shape;513;p24"/>
          <p:cNvSpPr txBox="1"/>
          <p:nvPr/>
        </p:nvSpPr>
        <p:spPr>
          <a:xfrm>
            <a:off x="4121909" y="4840674"/>
            <a:ext cx="7524300" cy="3387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600">
              <a:solidFill>
                <a:srgbClr val="FFFFFF"/>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0"/>
                                        </p:tgtEl>
                                        <p:attrNameLst>
                                          <p:attrName>style.visibility</p:attrName>
                                        </p:attrNameLst>
                                      </p:cBhvr>
                                      <p:to>
                                        <p:strVal val="visible"/>
                                      </p:to>
                                    </p:set>
                                    <p:animEffect transition="in" filter="fade">
                                      <p:cBhvr>
                                        <p:cTn id="7" dur="500"/>
                                        <p:tgtEl>
                                          <p:spTgt spid="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25"/>
          <p:cNvSpPr/>
          <p:nvPr/>
        </p:nvSpPr>
        <p:spPr>
          <a:xfrm>
            <a:off x="1576578" y="2226673"/>
            <a:ext cx="8847582" cy="3424827"/>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9" name="Google Shape;519;p25"/>
          <p:cNvSpPr txBox="1"/>
          <p:nvPr/>
        </p:nvSpPr>
        <p:spPr>
          <a:xfrm>
            <a:off x="1456968" y="249047"/>
            <a:ext cx="10030181"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MaxPooling</a:t>
            </a:r>
            <a:endParaRPr sz="3200">
              <a:solidFill>
                <a:srgbClr val="7F7F7F"/>
              </a:solidFill>
              <a:latin typeface="Arial"/>
              <a:ea typeface="Arial"/>
              <a:cs typeface="Arial"/>
              <a:sym typeface="Arial"/>
            </a:endParaRPr>
          </a:p>
        </p:txBody>
      </p:sp>
      <p:sp>
        <p:nvSpPr>
          <p:cNvPr id="520" name="Google Shape;520;p25"/>
          <p:cNvSpPr/>
          <p:nvPr/>
        </p:nvSpPr>
        <p:spPr>
          <a:xfrm>
            <a:off x="-1153097" y="1010873"/>
            <a:ext cx="13859447" cy="944227"/>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1" name="Google Shape;521;p25"/>
          <p:cNvSpPr txBox="1"/>
          <p:nvPr/>
        </p:nvSpPr>
        <p:spPr>
          <a:xfrm>
            <a:off x="1456969" y="1163968"/>
            <a:ext cx="9143691"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800" b="1">
                <a:solidFill>
                  <a:schemeClr val="lt1"/>
                </a:solidFill>
                <a:latin typeface="Calibri"/>
                <a:ea typeface="Calibri"/>
                <a:cs typeface="Calibri"/>
                <a:sym typeface="Calibri"/>
              </a:rPr>
              <a:t>Max Pooling </a:t>
            </a:r>
            <a:r>
              <a:rPr lang="es-CL" sz="1800">
                <a:solidFill>
                  <a:schemeClr val="lt1"/>
                </a:solidFill>
                <a:latin typeface="Calibri"/>
                <a:ea typeface="Calibri"/>
                <a:cs typeface="Calibri"/>
                <a:sym typeface="Calibri"/>
              </a:rPr>
              <a:t>considera el número mayor al recorrer la imagen con la matriz de pooling, obteniendo así, una matriz de resultado de menor dimensión.</a:t>
            </a:r>
            <a:endParaRPr/>
          </a:p>
        </p:txBody>
      </p:sp>
      <p:graphicFrame>
        <p:nvGraphicFramePr>
          <p:cNvPr id="522" name="Google Shape;522;p25"/>
          <p:cNvGraphicFramePr/>
          <p:nvPr/>
        </p:nvGraphicFramePr>
        <p:xfrm>
          <a:off x="8276737" y="3663784"/>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523" name="Google Shape;523;p25"/>
          <p:cNvGraphicFramePr/>
          <p:nvPr/>
        </p:nvGraphicFramePr>
        <p:xfrm>
          <a:off x="2139884" y="3294742"/>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24" name="Google Shape;524;p25"/>
          <p:cNvSpPr txBox="1"/>
          <p:nvPr/>
        </p:nvSpPr>
        <p:spPr>
          <a:xfrm>
            <a:off x="2139884" y="2709549"/>
            <a:ext cx="2155343"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Imagen de entrada</a:t>
            </a:r>
            <a:endParaRPr/>
          </a:p>
        </p:txBody>
      </p:sp>
      <p:sp>
        <p:nvSpPr>
          <p:cNvPr id="525" name="Google Shape;525;p25"/>
          <p:cNvSpPr txBox="1"/>
          <p:nvPr/>
        </p:nvSpPr>
        <p:spPr>
          <a:xfrm>
            <a:off x="5302934" y="2709549"/>
            <a:ext cx="1852965"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MaxPooling (2x2)</a:t>
            </a:r>
            <a:endParaRPr/>
          </a:p>
        </p:txBody>
      </p:sp>
      <p:graphicFrame>
        <p:nvGraphicFramePr>
          <p:cNvPr id="526" name="Google Shape;526;p25"/>
          <p:cNvGraphicFramePr/>
          <p:nvPr/>
        </p:nvGraphicFramePr>
        <p:xfrm>
          <a:off x="2052685" y="3201571"/>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527" name="Google Shape;527;p25"/>
          <p:cNvSpPr txBox="1"/>
          <p:nvPr/>
        </p:nvSpPr>
        <p:spPr>
          <a:xfrm>
            <a:off x="8378139" y="2709549"/>
            <a:ext cx="992108"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chemeClr val="dk1"/>
                </a:solidFill>
                <a:latin typeface="Calibri"/>
                <a:ea typeface="Calibri"/>
                <a:cs typeface="Calibri"/>
                <a:sym typeface="Calibri"/>
              </a:rPr>
              <a:t>Salida</a:t>
            </a:r>
            <a:endParaRPr/>
          </a:p>
        </p:txBody>
      </p:sp>
      <p:sp>
        <p:nvSpPr>
          <p:cNvPr id="528" name="Google Shape;528;p25"/>
          <p:cNvSpPr/>
          <p:nvPr/>
        </p:nvSpPr>
        <p:spPr>
          <a:xfrm>
            <a:off x="2677603" y="3807631"/>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29" name="Google Shape;529;p25"/>
          <p:cNvSpPr/>
          <p:nvPr/>
        </p:nvSpPr>
        <p:spPr>
          <a:xfrm>
            <a:off x="8295982" y="3665355"/>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530" name="Google Shape;530;p25"/>
          <p:cNvCxnSpPr/>
          <p:nvPr/>
        </p:nvCxnSpPr>
        <p:spPr>
          <a:xfrm rot="10800000" flipH="1">
            <a:off x="3233394" y="3873923"/>
            <a:ext cx="5043343" cy="142276"/>
          </a:xfrm>
          <a:prstGeom prst="straightConnector1">
            <a:avLst/>
          </a:prstGeom>
          <a:noFill/>
          <a:ln w="9525" cap="flat" cmpd="sng">
            <a:solidFill>
              <a:srgbClr val="7F7F7F"/>
            </a:solidFill>
            <a:prstDash val="solid"/>
            <a:miter lim="800000"/>
            <a:headEnd type="none" w="sm" len="sm"/>
            <a:tailEnd type="triangle" w="med" len="med"/>
          </a:ln>
        </p:spPr>
      </p:cxnSp>
      <p:graphicFrame>
        <p:nvGraphicFramePr>
          <p:cNvPr id="531" name="Google Shape;531;p25"/>
          <p:cNvGraphicFramePr/>
          <p:nvPr/>
        </p:nvGraphicFramePr>
        <p:xfrm>
          <a:off x="5682662" y="3669393"/>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888888"/>
                      </a:solidFill>
                      <a:prstDash val="solid"/>
                      <a:round/>
                      <a:headEnd type="none" w="sm" len="sm"/>
                      <a:tailEnd type="none" w="sm" len="sm"/>
                    </a:lnL>
                    <a:lnR w="9525" cap="flat" cmpd="sng">
                      <a:solidFill>
                        <a:srgbClr val="888888"/>
                      </a:solidFill>
                      <a:prstDash val="solid"/>
                      <a:round/>
                      <a:headEnd type="none" w="sm" len="sm"/>
                      <a:tailEnd type="none" w="sm" len="sm"/>
                    </a:lnR>
                    <a:lnT w="9525" cap="flat" cmpd="sng">
                      <a:solidFill>
                        <a:srgbClr val="888888"/>
                      </a:solidFill>
                      <a:prstDash val="solid"/>
                      <a:round/>
                      <a:headEnd type="none" w="sm" len="sm"/>
                      <a:tailEnd type="none" w="sm" len="sm"/>
                    </a:lnT>
                    <a:lnB w="9525" cap="flat" cmpd="sng">
                      <a:solidFill>
                        <a:srgbClr val="888888"/>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888888"/>
                      </a:solidFill>
                      <a:prstDash val="solid"/>
                      <a:round/>
                      <a:headEnd type="none" w="sm" len="sm"/>
                      <a:tailEnd type="none" w="sm" len="sm"/>
                    </a:lnL>
                    <a:lnR w="9525" cap="flat" cmpd="sng">
                      <a:solidFill>
                        <a:srgbClr val="888888"/>
                      </a:solidFill>
                      <a:prstDash val="solid"/>
                      <a:round/>
                      <a:headEnd type="none" w="sm" len="sm"/>
                      <a:tailEnd type="none" w="sm" len="sm"/>
                    </a:lnR>
                    <a:lnT w="9525" cap="flat" cmpd="sng">
                      <a:solidFill>
                        <a:srgbClr val="888888"/>
                      </a:solidFill>
                      <a:prstDash val="solid"/>
                      <a:round/>
                      <a:headEnd type="none" w="sm" len="sm"/>
                      <a:tailEnd type="none" w="sm" len="sm"/>
                    </a:lnT>
                    <a:lnB w="9525" cap="flat" cmpd="sng">
                      <a:solidFill>
                        <a:srgbClr val="888888"/>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888888"/>
                      </a:solidFill>
                      <a:prstDash val="solid"/>
                      <a:round/>
                      <a:headEnd type="none" w="sm" len="sm"/>
                      <a:tailEnd type="none" w="sm" len="sm"/>
                    </a:lnL>
                    <a:lnR w="9525" cap="flat" cmpd="sng">
                      <a:solidFill>
                        <a:srgbClr val="888888"/>
                      </a:solidFill>
                      <a:prstDash val="solid"/>
                      <a:round/>
                      <a:headEnd type="none" w="sm" len="sm"/>
                      <a:tailEnd type="none" w="sm" len="sm"/>
                    </a:lnR>
                    <a:lnT w="9525" cap="flat" cmpd="sng">
                      <a:solidFill>
                        <a:srgbClr val="888888"/>
                      </a:solidFill>
                      <a:prstDash val="solid"/>
                      <a:round/>
                      <a:headEnd type="none" w="sm" len="sm"/>
                      <a:tailEnd type="none" w="sm" len="sm"/>
                    </a:lnT>
                    <a:lnB w="9525" cap="flat" cmpd="sng">
                      <a:solidFill>
                        <a:srgbClr val="888888"/>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888888"/>
                      </a:solidFill>
                      <a:prstDash val="solid"/>
                      <a:round/>
                      <a:headEnd type="none" w="sm" len="sm"/>
                      <a:tailEnd type="none" w="sm" len="sm"/>
                    </a:lnL>
                    <a:lnR w="9525" cap="flat" cmpd="sng">
                      <a:solidFill>
                        <a:srgbClr val="888888"/>
                      </a:solidFill>
                      <a:prstDash val="solid"/>
                      <a:round/>
                      <a:headEnd type="none" w="sm" len="sm"/>
                      <a:tailEnd type="none" w="sm" len="sm"/>
                    </a:lnR>
                    <a:lnT w="9525" cap="flat" cmpd="sng">
                      <a:solidFill>
                        <a:srgbClr val="888888"/>
                      </a:solidFill>
                      <a:prstDash val="solid"/>
                      <a:round/>
                      <a:headEnd type="none" w="sm" len="sm"/>
                      <a:tailEnd type="none" w="sm" len="sm"/>
                    </a:lnT>
                    <a:lnB w="9525" cap="flat" cmpd="sng">
                      <a:solidFill>
                        <a:srgbClr val="888888"/>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9"/>
                                        </p:tgtEl>
                                        <p:attrNameLst>
                                          <p:attrName>style.visibility</p:attrName>
                                        </p:attrNameLst>
                                      </p:cBhvr>
                                      <p:to>
                                        <p:strVal val="visible"/>
                                      </p:to>
                                    </p:set>
                                    <p:animEffect transition="in" filter="fade">
                                      <p:cBhvr>
                                        <p:cTn id="7" dur="500"/>
                                        <p:tgtEl>
                                          <p:spTgt spid="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26"/>
          <p:cNvSpPr/>
          <p:nvPr/>
        </p:nvSpPr>
        <p:spPr>
          <a:xfrm>
            <a:off x="1559859" y="2540520"/>
            <a:ext cx="8846013" cy="3264445"/>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7" name="Google Shape;537;p26"/>
          <p:cNvSpPr txBox="1"/>
          <p:nvPr/>
        </p:nvSpPr>
        <p:spPr>
          <a:xfrm>
            <a:off x="1456968" y="750492"/>
            <a:ext cx="10030181" cy="566199"/>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CL" sz="3200">
                <a:solidFill>
                  <a:srgbClr val="7F7F7F"/>
                </a:solidFill>
                <a:latin typeface="Arial"/>
                <a:ea typeface="Arial"/>
                <a:cs typeface="Arial"/>
                <a:sym typeface="Arial"/>
              </a:rPr>
              <a:t>MaxPooling</a:t>
            </a:r>
            <a:endParaRPr sz="3200">
              <a:solidFill>
                <a:srgbClr val="7F7F7F"/>
              </a:solidFill>
              <a:latin typeface="Arial"/>
              <a:ea typeface="Arial"/>
              <a:cs typeface="Arial"/>
              <a:sym typeface="Arial"/>
            </a:endParaRPr>
          </a:p>
        </p:txBody>
      </p:sp>
      <p:sp>
        <p:nvSpPr>
          <p:cNvPr id="538" name="Google Shape;538;p26"/>
          <p:cNvSpPr/>
          <p:nvPr/>
        </p:nvSpPr>
        <p:spPr>
          <a:xfrm>
            <a:off x="-1153097" y="1512318"/>
            <a:ext cx="13859447" cy="832575"/>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9" name="Google Shape;539;p26"/>
          <p:cNvSpPr txBox="1"/>
          <p:nvPr/>
        </p:nvSpPr>
        <p:spPr>
          <a:xfrm>
            <a:off x="1456969" y="1633514"/>
            <a:ext cx="894890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1">
                <a:solidFill>
                  <a:schemeClr val="lt1"/>
                </a:solidFill>
                <a:latin typeface="Calibri"/>
                <a:ea typeface="Calibri"/>
                <a:cs typeface="Calibri"/>
                <a:sym typeface="Calibri"/>
              </a:rPr>
              <a:t>Max Pooling </a:t>
            </a:r>
            <a:r>
              <a:rPr lang="es-CL" sz="1800">
                <a:solidFill>
                  <a:schemeClr val="lt1"/>
                </a:solidFill>
                <a:latin typeface="Calibri"/>
                <a:ea typeface="Calibri"/>
                <a:cs typeface="Calibri"/>
                <a:sym typeface="Calibri"/>
              </a:rPr>
              <a:t>considera el número mayor al recorrer la imagen con la matriz de pooling, obteniendo así, una matriz de resultado de menor dimensión.</a:t>
            </a:r>
            <a:endParaRPr/>
          </a:p>
        </p:txBody>
      </p:sp>
      <p:graphicFrame>
        <p:nvGraphicFramePr>
          <p:cNvPr id="540" name="Google Shape;540;p26"/>
          <p:cNvGraphicFramePr/>
          <p:nvPr/>
        </p:nvGraphicFramePr>
        <p:xfrm>
          <a:off x="8444411" y="3786598"/>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541" name="Google Shape;541;p26"/>
          <p:cNvGraphicFramePr/>
          <p:nvPr/>
        </p:nvGraphicFramePr>
        <p:xfrm>
          <a:off x="2307558" y="3417556"/>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42" name="Google Shape;542;p26"/>
          <p:cNvSpPr txBox="1"/>
          <p:nvPr/>
        </p:nvSpPr>
        <p:spPr>
          <a:xfrm>
            <a:off x="2407389" y="2832363"/>
            <a:ext cx="1955215"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543" name="Google Shape;543;p26"/>
          <p:cNvSpPr txBox="1"/>
          <p:nvPr/>
        </p:nvSpPr>
        <p:spPr>
          <a:xfrm>
            <a:off x="5693917" y="2832363"/>
            <a:ext cx="1811393"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MaxPooling (2x2)</a:t>
            </a:r>
            <a:endParaRPr/>
          </a:p>
        </p:txBody>
      </p:sp>
      <p:graphicFrame>
        <p:nvGraphicFramePr>
          <p:cNvPr id="544" name="Google Shape;544;p26"/>
          <p:cNvGraphicFramePr/>
          <p:nvPr/>
        </p:nvGraphicFramePr>
        <p:xfrm>
          <a:off x="3318190" y="3332444"/>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545" name="Google Shape;545;p26"/>
          <p:cNvSpPr txBox="1"/>
          <p:nvPr/>
        </p:nvSpPr>
        <p:spPr>
          <a:xfrm>
            <a:off x="8621513" y="2832363"/>
            <a:ext cx="739305"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sp>
        <p:nvSpPr>
          <p:cNvPr id="546" name="Google Shape;546;p26"/>
          <p:cNvSpPr/>
          <p:nvPr/>
        </p:nvSpPr>
        <p:spPr>
          <a:xfrm>
            <a:off x="3401068" y="3902164"/>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47" name="Google Shape;547;p26"/>
          <p:cNvSpPr/>
          <p:nvPr/>
        </p:nvSpPr>
        <p:spPr>
          <a:xfrm>
            <a:off x="9000788" y="3823663"/>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548" name="Google Shape;548;p26"/>
          <p:cNvCxnSpPr/>
          <p:nvPr/>
        </p:nvCxnSpPr>
        <p:spPr>
          <a:xfrm rot="10800000" flipH="1">
            <a:off x="3993383" y="3996737"/>
            <a:ext cx="4997782" cy="142276"/>
          </a:xfrm>
          <a:prstGeom prst="straightConnector1">
            <a:avLst/>
          </a:prstGeom>
          <a:noFill/>
          <a:ln w="9525" cap="flat" cmpd="sng">
            <a:solidFill>
              <a:srgbClr val="7F7F7F"/>
            </a:solidFill>
            <a:prstDash val="solid"/>
            <a:miter lim="800000"/>
            <a:headEnd type="none" w="sm" len="sm"/>
            <a:tailEnd type="triangle" w="med" len="med"/>
          </a:ln>
        </p:spPr>
      </p:cxnSp>
      <p:graphicFrame>
        <p:nvGraphicFramePr>
          <p:cNvPr id="549" name="Google Shape;549;p26"/>
          <p:cNvGraphicFramePr/>
          <p:nvPr/>
        </p:nvGraphicFramePr>
        <p:xfrm>
          <a:off x="5850336" y="3792207"/>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7"/>
                                        </p:tgtEl>
                                        <p:attrNameLst>
                                          <p:attrName>style.visibility</p:attrName>
                                        </p:attrNameLst>
                                      </p:cBhvr>
                                      <p:to>
                                        <p:strVal val="visible"/>
                                      </p:to>
                                    </p:set>
                                    <p:animEffect transition="in" filter="fade">
                                      <p:cBhvr>
                                        <p:cTn id="7" dur="500"/>
                                        <p:tgtEl>
                                          <p:spTgt spid="5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27"/>
          <p:cNvSpPr/>
          <p:nvPr/>
        </p:nvSpPr>
        <p:spPr>
          <a:xfrm>
            <a:off x="1844220" y="2597836"/>
            <a:ext cx="8436862" cy="3242685"/>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5" name="Google Shape;555;p27"/>
          <p:cNvSpPr txBox="1"/>
          <p:nvPr/>
        </p:nvSpPr>
        <p:spPr>
          <a:xfrm>
            <a:off x="1810871" y="460861"/>
            <a:ext cx="967628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CL" sz="3200">
                <a:solidFill>
                  <a:srgbClr val="7F7F7F"/>
                </a:solidFill>
                <a:latin typeface="Arial"/>
                <a:ea typeface="Arial"/>
                <a:cs typeface="Arial"/>
                <a:sym typeface="Arial"/>
              </a:rPr>
              <a:t>MaxPooling</a:t>
            </a:r>
            <a:endParaRPr sz="3200">
              <a:solidFill>
                <a:srgbClr val="7F7F7F"/>
              </a:solidFill>
              <a:latin typeface="Arial"/>
              <a:ea typeface="Arial"/>
              <a:cs typeface="Arial"/>
              <a:sym typeface="Arial"/>
            </a:endParaRPr>
          </a:p>
        </p:txBody>
      </p:sp>
      <p:sp>
        <p:nvSpPr>
          <p:cNvPr id="556" name="Google Shape;556;p27"/>
          <p:cNvSpPr/>
          <p:nvPr/>
        </p:nvSpPr>
        <p:spPr>
          <a:xfrm>
            <a:off x="-98611" y="1353989"/>
            <a:ext cx="12386406" cy="867749"/>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7" name="Google Shape;557;p27"/>
          <p:cNvSpPr txBox="1"/>
          <p:nvPr/>
        </p:nvSpPr>
        <p:spPr>
          <a:xfrm>
            <a:off x="1826014" y="1484792"/>
            <a:ext cx="8503561"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800">
                <a:solidFill>
                  <a:schemeClr val="lt1"/>
                </a:solidFill>
                <a:latin typeface="Calibri"/>
                <a:ea typeface="Calibri"/>
                <a:cs typeface="Calibri"/>
                <a:sym typeface="Calibri"/>
              </a:rPr>
              <a:t>Max Pooling considera el número mayor al recorrer la imagen con la matriz de pooling, obteniendo así, una matriz de resultado de menor dimensión.</a:t>
            </a:r>
            <a:endParaRPr/>
          </a:p>
        </p:txBody>
      </p:sp>
      <p:graphicFrame>
        <p:nvGraphicFramePr>
          <p:cNvPr id="558" name="Google Shape;558;p27"/>
          <p:cNvGraphicFramePr/>
          <p:nvPr/>
        </p:nvGraphicFramePr>
        <p:xfrm>
          <a:off x="8599467" y="3916499"/>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559" name="Google Shape;559;p27"/>
          <p:cNvGraphicFramePr/>
          <p:nvPr/>
        </p:nvGraphicFramePr>
        <p:xfrm>
          <a:off x="2462614" y="3547457"/>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60" name="Google Shape;560;p27"/>
          <p:cNvSpPr txBox="1"/>
          <p:nvPr/>
        </p:nvSpPr>
        <p:spPr>
          <a:xfrm>
            <a:off x="2462615" y="2962264"/>
            <a:ext cx="218702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561" name="Google Shape;561;p27"/>
          <p:cNvSpPr txBox="1"/>
          <p:nvPr/>
        </p:nvSpPr>
        <p:spPr>
          <a:xfrm>
            <a:off x="5652867" y="2958901"/>
            <a:ext cx="1811393"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MaxPooling (2x2)</a:t>
            </a:r>
            <a:endParaRPr/>
          </a:p>
        </p:txBody>
      </p:sp>
      <p:graphicFrame>
        <p:nvGraphicFramePr>
          <p:cNvPr id="562" name="Google Shape;562;p27"/>
          <p:cNvGraphicFramePr/>
          <p:nvPr/>
        </p:nvGraphicFramePr>
        <p:xfrm>
          <a:off x="2379932" y="4394102"/>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563" name="Google Shape;563;p27"/>
          <p:cNvSpPr txBox="1"/>
          <p:nvPr/>
        </p:nvSpPr>
        <p:spPr>
          <a:xfrm>
            <a:off x="8599467" y="2962264"/>
            <a:ext cx="109351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sp>
        <p:nvSpPr>
          <p:cNvPr id="564" name="Google Shape;564;p27"/>
          <p:cNvSpPr/>
          <p:nvPr/>
        </p:nvSpPr>
        <p:spPr>
          <a:xfrm>
            <a:off x="3012543" y="4502663"/>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65" name="Google Shape;565;p27"/>
          <p:cNvSpPr/>
          <p:nvPr/>
        </p:nvSpPr>
        <p:spPr>
          <a:xfrm>
            <a:off x="8599467" y="4430341"/>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566" name="Google Shape;566;p27"/>
          <p:cNvCxnSpPr/>
          <p:nvPr/>
        </p:nvCxnSpPr>
        <p:spPr>
          <a:xfrm rot="10800000" flipH="1">
            <a:off x="3556124" y="4638909"/>
            <a:ext cx="5043343" cy="95135"/>
          </a:xfrm>
          <a:prstGeom prst="straightConnector1">
            <a:avLst/>
          </a:prstGeom>
          <a:noFill/>
          <a:ln w="9525" cap="flat" cmpd="sng">
            <a:solidFill>
              <a:srgbClr val="7F7F7F"/>
            </a:solidFill>
            <a:prstDash val="solid"/>
            <a:miter lim="800000"/>
            <a:headEnd type="none" w="sm" len="sm"/>
            <a:tailEnd type="triangle" w="med" len="med"/>
          </a:ln>
        </p:spPr>
      </p:cxnSp>
      <p:graphicFrame>
        <p:nvGraphicFramePr>
          <p:cNvPr id="567" name="Google Shape;567;p27"/>
          <p:cNvGraphicFramePr/>
          <p:nvPr/>
        </p:nvGraphicFramePr>
        <p:xfrm>
          <a:off x="6005392" y="3922108"/>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5"/>
                                        </p:tgtEl>
                                        <p:attrNameLst>
                                          <p:attrName>style.visibility</p:attrName>
                                        </p:attrNameLst>
                                      </p:cBhvr>
                                      <p:to>
                                        <p:strVal val="visible"/>
                                      </p:to>
                                    </p:set>
                                    <p:animEffect transition="in" filter="fade">
                                      <p:cBhvr>
                                        <p:cTn id="7" dur="500"/>
                                        <p:tgtEl>
                                          <p:spTgt spid="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8"/>
          <p:cNvSpPr/>
          <p:nvPr/>
        </p:nvSpPr>
        <p:spPr>
          <a:xfrm>
            <a:off x="1776344" y="2333897"/>
            <a:ext cx="8494707" cy="3291840"/>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3" name="Google Shape;573;p28"/>
          <p:cNvSpPr txBox="1"/>
          <p:nvPr/>
        </p:nvSpPr>
        <p:spPr>
          <a:xfrm>
            <a:off x="1645376" y="429792"/>
            <a:ext cx="10782300" cy="618557"/>
          </a:xfrm>
          <a:prstGeom prst="rect">
            <a:avLst/>
          </a:prstGeom>
          <a:no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None/>
            </a:pPr>
            <a:r>
              <a:rPr lang="es-CL" sz="3200">
                <a:solidFill>
                  <a:srgbClr val="7F7F7F"/>
                </a:solidFill>
                <a:latin typeface="Arial"/>
                <a:ea typeface="Arial"/>
                <a:cs typeface="Arial"/>
                <a:sym typeface="Arial"/>
              </a:rPr>
              <a:t>MaxPooling</a:t>
            </a:r>
            <a:endParaRPr sz="3200">
              <a:solidFill>
                <a:srgbClr val="7F7F7F"/>
              </a:solidFill>
              <a:latin typeface="Arial"/>
              <a:ea typeface="Arial"/>
              <a:cs typeface="Arial"/>
              <a:sym typeface="Arial"/>
            </a:endParaRPr>
          </a:p>
        </p:txBody>
      </p:sp>
      <p:sp>
        <p:nvSpPr>
          <p:cNvPr id="574" name="Google Shape;574;p28"/>
          <p:cNvSpPr/>
          <p:nvPr/>
        </p:nvSpPr>
        <p:spPr>
          <a:xfrm>
            <a:off x="-107576" y="1138776"/>
            <a:ext cx="12386662" cy="823045"/>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5" name="Google Shape;575;p28"/>
          <p:cNvSpPr txBox="1"/>
          <p:nvPr/>
        </p:nvSpPr>
        <p:spPr>
          <a:xfrm>
            <a:off x="1706881" y="1233926"/>
            <a:ext cx="870877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chemeClr val="lt1"/>
                </a:solidFill>
                <a:latin typeface="Calibri"/>
                <a:ea typeface="Calibri"/>
                <a:cs typeface="Calibri"/>
                <a:sym typeface="Calibri"/>
              </a:rPr>
              <a:t>Max Pooling considera el número mayor al recorrer la imagen con la matriz de pooling, obteniendo así, una matriz de resultado de menor dimensión.</a:t>
            </a:r>
            <a:endParaRPr/>
          </a:p>
        </p:txBody>
      </p:sp>
      <p:graphicFrame>
        <p:nvGraphicFramePr>
          <p:cNvPr id="576" name="Google Shape;576;p28"/>
          <p:cNvGraphicFramePr/>
          <p:nvPr/>
        </p:nvGraphicFramePr>
        <p:xfrm>
          <a:off x="8276737" y="3656363"/>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577" name="Google Shape;577;p28"/>
          <p:cNvGraphicFramePr/>
          <p:nvPr/>
        </p:nvGraphicFramePr>
        <p:xfrm>
          <a:off x="2139884" y="3287321"/>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78" name="Google Shape;578;p28"/>
          <p:cNvSpPr txBox="1"/>
          <p:nvPr/>
        </p:nvSpPr>
        <p:spPr>
          <a:xfrm>
            <a:off x="2139885" y="2702128"/>
            <a:ext cx="2185872"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579" name="Google Shape;579;p28"/>
          <p:cNvSpPr txBox="1"/>
          <p:nvPr/>
        </p:nvSpPr>
        <p:spPr>
          <a:xfrm>
            <a:off x="5395550" y="2702128"/>
            <a:ext cx="1811393"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MaxPooling (2x2)</a:t>
            </a:r>
            <a:endParaRPr/>
          </a:p>
        </p:txBody>
      </p:sp>
      <p:graphicFrame>
        <p:nvGraphicFramePr>
          <p:cNvPr id="580" name="Google Shape;580;p28"/>
          <p:cNvGraphicFramePr/>
          <p:nvPr/>
        </p:nvGraphicFramePr>
        <p:xfrm>
          <a:off x="3154473" y="4141037"/>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581" name="Google Shape;581;p28"/>
          <p:cNvSpPr txBox="1"/>
          <p:nvPr/>
        </p:nvSpPr>
        <p:spPr>
          <a:xfrm>
            <a:off x="8276737" y="2702128"/>
            <a:ext cx="109351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sp>
        <p:nvSpPr>
          <p:cNvPr id="582" name="Google Shape;582;p28"/>
          <p:cNvSpPr/>
          <p:nvPr/>
        </p:nvSpPr>
        <p:spPr>
          <a:xfrm>
            <a:off x="3228875" y="4265340"/>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83" name="Google Shape;583;p28"/>
          <p:cNvSpPr/>
          <p:nvPr/>
        </p:nvSpPr>
        <p:spPr>
          <a:xfrm>
            <a:off x="8832920" y="4170205"/>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584" name="Google Shape;584;p28"/>
          <p:cNvCxnSpPr/>
          <p:nvPr/>
        </p:nvCxnSpPr>
        <p:spPr>
          <a:xfrm rot="10800000" flipH="1">
            <a:off x="3779392" y="4378773"/>
            <a:ext cx="5043710" cy="95135"/>
          </a:xfrm>
          <a:prstGeom prst="straightConnector1">
            <a:avLst/>
          </a:prstGeom>
          <a:noFill/>
          <a:ln w="9525" cap="flat" cmpd="sng">
            <a:solidFill>
              <a:srgbClr val="7F7F7F"/>
            </a:solidFill>
            <a:prstDash val="solid"/>
            <a:miter lim="800000"/>
            <a:headEnd type="none" w="sm" len="sm"/>
            <a:tailEnd type="triangle" w="med" len="med"/>
          </a:ln>
        </p:spPr>
      </p:cxnSp>
      <p:graphicFrame>
        <p:nvGraphicFramePr>
          <p:cNvPr id="585" name="Google Shape;585;p28"/>
          <p:cNvGraphicFramePr/>
          <p:nvPr/>
        </p:nvGraphicFramePr>
        <p:xfrm>
          <a:off x="5682662" y="3661972"/>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73"/>
                                        </p:tgtEl>
                                        <p:attrNameLst>
                                          <p:attrName>style.visibility</p:attrName>
                                        </p:attrNameLst>
                                      </p:cBhvr>
                                      <p:to>
                                        <p:strVal val="visible"/>
                                      </p:to>
                                    </p:set>
                                    <p:animEffect transition="in" filter="fade">
                                      <p:cBhvr>
                                        <p:cTn id="7" dur="500"/>
                                        <p:tgtEl>
                                          <p:spTgt spid="5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29"/>
          <p:cNvSpPr/>
          <p:nvPr/>
        </p:nvSpPr>
        <p:spPr>
          <a:xfrm>
            <a:off x="1576578" y="2226673"/>
            <a:ext cx="8847582" cy="3233601"/>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1" name="Google Shape;591;p29"/>
          <p:cNvSpPr txBox="1"/>
          <p:nvPr/>
        </p:nvSpPr>
        <p:spPr>
          <a:xfrm>
            <a:off x="704850" y="249047"/>
            <a:ext cx="10782300"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AvgPooling</a:t>
            </a:r>
            <a:endParaRPr sz="3200">
              <a:solidFill>
                <a:srgbClr val="7F7F7F"/>
              </a:solidFill>
              <a:latin typeface="Arial"/>
              <a:ea typeface="Arial"/>
              <a:cs typeface="Arial"/>
              <a:sym typeface="Arial"/>
            </a:endParaRPr>
          </a:p>
        </p:txBody>
      </p:sp>
      <p:sp>
        <p:nvSpPr>
          <p:cNvPr id="592" name="Google Shape;592;p29"/>
          <p:cNvSpPr/>
          <p:nvPr/>
        </p:nvSpPr>
        <p:spPr>
          <a:xfrm>
            <a:off x="-179294" y="1010873"/>
            <a:ext cx="12519340" cy="944227"/>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3" name="Google Shape;593;p29"/>
          <p:cNvSpPr txBox="1"/>
          <p:nvPr/>
        </p:nvSpPr>
        <p:spPr>
          <a:xfrm>
            <a:off x="1576578" y="1111610"/>
            <a:ext cx="8839079" cy="64633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800" b="1">
                <a:solidFill>
                  <a:schemeClr val="lt1"/>
                </a:solidFill>
                <a:latin typeface="Calibri"/>
                <a:ea typeface="Calibri"/>
                <a:cs typeface="Calibri"/>
                <a:sym typeface="Calibri"/>
              </a:rPr>
              <a:t>Avg Pooling </a:t>
            </a:r>
            <a:r>
              <a:rPr lang="es-CL" sz="1800">
                <a:solidFill>
                  <a:schemeClr val="lt1"/>
                </a:solidFill>
                <a:latin typeface="Calibri"/>
                <a:ea typeface="Calibri"/>
                <a:cs typeface="Calibri"/>
                <a:sym typeface="Calibri"/>
              </a:rPr>
              <a:t>considera el promedio de los valores considerados al recorrer la imagen con la matriz de pooling, obteniendo así, una matriz de resultado de menor dimensión.</a:t>
            </a:r>
            <a:endParaRPr/>
          </a:p>
        </p:txBody>
      </p:sp>
      <p:graphicFrame>
        <p:nvGraphicFramePr>
          <p:cNvPr id="594" name="Google Shape;594;p29"/>
          <p:cNvGraphicFramePr/>
          <p:nvPr/>
        </p:nvGraphicFramePr>
        <p:xfrm>
          <a:off x="8323629" y="3527789"/>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r>
                        <a:rPr lang="es-CL" sz="1800" u="none" strike="noStrike" cap="none"/>
                        <a:t>15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u="none" strike="noStrike" cap="none"/>
                        <a:t>8.75</a:t>
                      </a:r>
                      <a:endParaRPr sz="1200"/>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Calibri"/>
                        <a:buNone/>
                      </a:pPr>
                      <a:r>
                        <a:rPr lang="es-CL" u="none" strike="noStrike" cap="none"/>
                        <a:t>8.75</a:t>
                      </a:r>
                      <a:endParaRPr sz="1200"/>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595" name="Google Shape;595;p29"/>
          <p:cNvGraphicFramePr/>
          <p:nvPr/>
        </p:nvGraphicFramePr>
        <p:xfrm>
          <a:off x="2186776" y="3158747"/>
          <a:ext cx="3000000" cy="3000000"/>
        </p:xfrm>
        <a:graphic>
          <a:graphicData uri="http://schemas.openxmlformats.org/drawingml/2006/table">
            <a:tbl>
              <a:tblPr firstRow="1" bandRow="1">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gridCol w="546750">
                  <a:extLst>
                    <a:ext uri="{9D8B030D-6E8A-4147-A177-3AD203B41FA5}">
                      <a16:colId xmlns:a16="http://schemas.microsoft.com/office/drawing/2014/main" val="20002"/>
                    </a:ext>
                  </a:extLst>
                </a:gridCol>
                <a:gridCol w="546750">
                  <a:extLst>
                    <a:ext uri="{9D8B030D-6E8A-4147-A177-3AD203B41FA5}">
                      <a16:colId xmlns:a16="http://schemas.microsoft.com/office/drawing/2014/main" val="20003"/>
                    </a:ext>
                  </a:extLst>
                </a:gridCol>
              </a:tblGrid>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30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r h="477600">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20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10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2"/>
                  </a:ext>
                </a:extLst>
              </a:tr>
              <a:tr h="477600">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5</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r>
                        <a:rPr lang="es-CL" sz="1800" u="none" strike="noStrike" cap="none"/>
                        <a:t>0</a:t>
                      </a:r>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96" name="Google Shape;596;p29"/>
          <p:cNvSpPr txBox="1"/>
          <p:nvPr/>
        </p:nvSpPr>
        <p:spPr>
          <a:xfrm>
            <a:off x="2186777" y="2442961"/>
            <a:ext cx="2187020"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Imagen de entrada</a:t>
            </a:r>
            <a:endParaRPr/>
          </a:p>
        </p:txBody>
      </p:sp>
      <p:sp>
        <p:nvSpPr>
          <p:cNvPr id="597" name="Google Shape;597;p29"/>
          <p:cNvSpPr txBox="1"/>
          <p:nvPr/>
        </p:nvSpPr>
        <p:spPr>
          <a:xfrm>
            <a:off x="5464690" y="2472688"/>
            <a:ext cx="1745158"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AvgPooling (2x2)</a:t>
            </a:r>
            <a:endParaRPr/>
          </a:p>
        </p:txBody>
      </p:sp>
      <p:graphicFrame>
        <p:nvGraphicFramePr>
          <p:cNvPr id="598" name="Google Shape;598;p29"/>
          <p:cNvGraphicFramePr/>
          <p:nvPr/>
        </p:nvGraphicFramePr>
        <p:xfrm>
          <a:off x="2099577" y="3065576"/>
          <a:ext cx="3000000" cy="3000000"/>
        </p:xfrm>
        <a:graphic>
          <a:graphicData uri="http://schemas.openxmlformats.org/drawingml/2006/table">
            <a:tbl>
              <a:tblPr>
                <a:noFill/>
                <a:tableStyleId>{C0BC39BE-2890-48C1-93AC-A100E66445B5}</a:tableStyleId>
              </a:tblPr>
              <a:tblGrid>
                <a:gridCol w="624925">
                  <a:extLst>
                    <a:ext uri="{9D8B030D-6E8A-4147-A177-3AD203B41FA5}">
                      <a16:colId xmlns:a16="http://schemas.microsoft.com/office/drawing/2014/main" val="20000"/>
                    </a:ext>
                  </a:extLst>
                </a:gridCol>
                <a:gridCol w="624925">
                  <a:extLst>
                    <a:ext uri="{9D8B030D-6E8A-4147-A177-3AD203B41FA5}">
                      <a16:colId xmlns:a16="http://schemas.microsoft.com/office/drawing/2014/main" val="20001"/>
                    </a:ext>
                  </a:extLst>
                </a:gridCol>
              </a:tblGrid>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0"/>
                  </a:ext>
                </a:extLst>
              </a:tr>
              <a:tr h="569725">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tc>
                  <a:txBody>
                    <a:bodyPr/>
                    <a:lstStyle/>
                    <a:p>
                      <a:pPr marL="0" marR="0" lvl="0" indent="0" algn="ctr" rtl="0">
                        <a:spcBef>
                          <a:spcPts val="0"/>
                        </a:spcBef>
                        <a:spcAft>
                          <a:spcPts val="0"/>
                        </a:spcAft>
                        <a:buNone/>
                      </a:pPr>
                      <a:endParaRPr sz="1800" u="none" strike="noStrike" cap="none"/>
                    </a:p>
                  </a:txBody>
                  <a:tcPr marL="91450" marR="91450" marT="45725" marB="45725">
                    <a:solidFill>
                      <a:srgbClr val="E1EFD8">
                        <a:alpha val="38823"/>
                      </a:srgbClr>
                    </a:solidFill>
                  </a:tcPr>
                </a:tc>
                <a:extLst>
                  <a:ext uri="{0D108BD9-81ED-4DB2-BD59-A6C34878D82A}">
                    <a16:rowId xmlns:a16="http://schemas.microsoft.com/office/drawing/2014/main" val="10001"/>
                  </a:ext>
                </a:extLst>
              </a:tr>
            </a:tbl>
          </a:graphicData>
        </a:graphic>
      </p:graphicFrame>
      <p:sp>
        <p:nvSpPr>
          <p:cNvPr id="599" name="Google Shape;599;p29"/>
          <p:cNvSpPr txBox="1"/>
          <p:nvPr/>
        </p:nvSpPr>
        <p:spPr>
          <a:xfrm>
            <a:off x="8342875" y="2442961"/>
            <a:ext cx="1074264" cy="369332"/>
          </a:xfrm>
          <a:prstGeom prst="rect">
            <a:avLst/>
          </a:prstGeom>
          <a:solidFill>
            <a:srgbClr val="F2F2F2"/>
          </a:solidFill>
          <a:ln w="9525" cap="flat" cmpd="sng">
            <a:solidFill>
              <a:srgbClr val="7F7F7F"/>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1800">
                <a:solidFill>
                  <a:srgbClr val="595959"/>
                </a:solidFill>
                <a:latin typeface="Calibri"/>
                <a:ea typeface="Calibri"/>
                <a:cs typeface="Calibri"/>
                <a:sym typeface="Calibri"/>
              </a:rPr>
              <a:t>Salida</a:t>
            </a:r>
            <a:endParaRPr/>
          </a:p>
        </p:txBody>
      </p:sp>
      <p:graphicFrame>
        <p:nvGraphicFramePr>
          <p:cNvPr id="600" name="Google Shape;600;p29"/>
          <p:cNvGraphicFramePr/>
          <p:nvPr/>
        </p:nvGraphicFramePr>
        <p:xfrm>
          <a:off x="5729554" y="3533398"/>
          <a:ext cx="3000000" cy="3000000"/>
        </p:xfrm>
        <a:graphic>
          <a:graphicData uri="http://schemas.openxmlformats.org/drawingml/2006/table">
            <a:tbl>
              <a:tblPr>
                <a:noFill/>
                <a:tableStyleId>{C0BC39BE-2890-48C1-93AC-A100E66445B5}</a:tableStyleId>
              </a:tblPr>
              <a:tblGrid>
                <a:gridCol w="546750">
                  <a:extLst>
                    <a:ext uri="{9D8B030D-6E8A-4147-A177-3AD203B41FA5}">
                      <a16:colId xmlns:a16="http://schemas.microsoft.com/office/drawing/2014/main" val="20000"/>
                    </a:ext>
                  </a:extLst>
                </a:gridCol>
                <a:gridCol w="546750">
                  <a:extLst>
                    <a:ext uri="{9D8B030D-6E8A-4147-A177-3AD203B41FA5}">
                      <a16:colId xmlns:a16="http://schemas.microsoft.com/office/drawing/2014/main" val="20001"/>
                    </a:ext>
                  </a:extLst>
                </a:gridCol>
              </a:tblGrid>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0"/>
                  </a:ext>
                </a:extLst>
              </a:tr>
              <a:tr h="477600">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601" name="Google Shape;601;p29"/>
          <p:cNvSpPr/>
          <p:nvPr/>
        </p:nvSpPr>
        <p:spPr>
          <a:xfrm>
            <a:off x="2099577" y="3065576"/>
            <a:ext cx="1180709" cy="102319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02" name="Google Shape;602;p29"/>
          <p:cNvSpPr/>
          <p:nvPr/>
        </p:nvSpPr>
        <p:spPr>
          <a:xfrm>
            <a:off x="8342874" y="3529360"/>
            <a:ext cx="527509" cy="417136"/>
          </a:xfrm>
          <a:prstGeom prst="ellipse">
            <a:avLst/>
          </a:prstGeom>
          <a:noFill/>
          <a:ln w="12700" cap="flat" cmpd="sng">
            <a:solidFill>
              <a:srgbClr val="FF0000"/>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cxnSp>
        <p:nvCxnSpPr>
          <p:cNvPr id="603" name="Google Shape;603;p29"/>
          <p:cNvCxnSpPr/>
          <p:nvPr/>
        </p:nvCxnSpPr>
        <p:spPr>
          <a:xfrm>
            <a:off x="3349415" y="3635296"/>
            <a:ext cx="4974300" cy="102600"/>
          </a:xfrm>
          <a:prstGeom prst="straightConnector1">
            <a:avLst/>
          </a:prstGeom>
          <a:noFill/>
          <a:ln w="9525" cap="flat" cmpd="sng">
            <a:solidFill>
              <a:srgbClr val="7F7F7F"/>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1"/>
                                        </p:tgtEl>
                                        <p:attrNameLst>
                                          <p:attrName>style.visibility</p:attrName>
                                        </p:attrNameLst>
                                      </p:cBhvr>
                                      <p:to>
                                        <p:strVal val="visible"/>
                                      </p:to>
                                    </p:set>
                                    <p:animEffect transition="in" filter="fade">
                                      <p:cBhvr>
                                        <p:cTn id="7" dur="500"/>
                                        <p:tgtEl>
                                          <p:spTgt spid="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30"/>
          <p:cNvSpPr/>
          <p:nvPr/>
        </p:nvSpPr>
        <p:spPr>
          <a:xfrm>
            <a:off x="191600" y="1214800"/>
            <a:ext cx="11808900" cy="46446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9" name="Google Shape;609;p30"/>
          <p:cNvSpPr/>
          <p:nvPr/>
        </p:nvSpPr>
        <p:spPr>
          <a:xfrm>
            <a:off x="4137225" y="1321925"/>
            <a:ext cx="7765200" cy="4413600"/>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10" name="Google Shape;610;p30"/>
          <p:cNvSpPr txBox="1"/>
          <p:nvPr/>
        </p:nvSpPr>
        <p:spPr>
          <a:xfrm>
            <a:off x="442662" y="590032"/>
            <a:ext cx="10782300" cy="54084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Operación de Pooling</a:t>
            </a:r>
            <a:endParaRPr sz="3200">
              <a:solidFill>
                <a:srgbClr val="7F7F7F"/>
              </a:solidFill>
              <a:latin typeface="Arial"/>
              <a:ea typeface="Arial"/>
              <a:cs typeface="Arial"/>
              <a:sym typeface="Arial"/>
            </a:endParaRPr>
          </a:p>
        </p:txBody>
      </p:sp>
      <p:sp>
        <p:nvSpPr>
          <p:cNvPr id="611" name="Google Shape;611;p30"/>
          <p:cNvSpPr txBox="1"/>
          <p:nvPr/>
        </p:nvSpPr>
        <p:spPr>
          <a:xfrm>
            <a:off x="442662" y="1456593"/>
            <a:ext cx="3575700" cy="42789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La agrupación nos ayuda de 2 maneras:</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Reducir la dimensión de entrada y conserve solo las características importantes.</a:t>
            </a:r>
            <a:endParaRPr sz="1600">
              <a:solidFill>
                <a:schemeClr val="lt1"/>
              </a:solidFill>
              <a:latin typeface="Calibri"/>
              <a:ea typeface="Calibri"/>
              <a:cs typeface="Calibri"/>
              <a:sym typeface="Calibri"/>
            </a:endParaRPr>
          </a:p>
          <a:p>
            <a:pPr marL="342900" marR="0" lvl="0" indent="-342900" algn="just" rtl="0">
              <a:spcBef>
                <a:spcPts val="0"/>
              </a:spcBef>
              <a:spcAft>
                <a:spcPts val="0"/>
              </a:spcAft>
              <a:buClr>
                <a:schemeClr val="lt1"/>
              </a:buClr>
              <a:buSzPts val="1600"/>
              <a:buFont typeface="Calibri"/>
              <a:buChar char="●"/>
            </a:pPr>
            <a:r>
              <a:rPr lang="es-CL" sz="1600">
                <a:solidFill>
                  <a:schemeClr val="lt1"/>
                </a:solidFill>
                <a:latin typeface="Calibri"/>
                <a:ea typeface="Calibri"/>
                <a:cs typeface="Calibri"/>
                <a:sym typeface="Calibri"/>
              </a:rPr>
              <a:t>Ayuda a identificar una imagen independientemente de su posición en una imagen.</a:t>
            </a:r>
            <a:endParaRPr sz="1600">
              <a:solidFill>
                <a:schemeClr val="lt1"/>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lvl="0" indent="0" algn="just" rtl="0">
              <a:spcBef>
                <a:spcPts val="0"/>
              </a:spcBef>
              <a:spcAft>
                <a:spcPts val="0"/>
              </a:spcAft>
              <a:buNone/>
            </a:pPr>
            <a:r>
              <a:rPr lang="es-CL" sz="1600">
                <a:solidFill>
                  <a:schemeClr val="lt1"/>
                </a:solidFill>
                <a:latin typeface="Calibri"/>
                <a:ea typeface="Calibri"/>
                <a:cs typeface="Calibri"/>
                <a:sym typeface="Calibri"/>
              </a:rPr>
              <a:t>Ambas imágenes corresponden a la letra ‘ A ‘. Pero ‘ A ‘ no está en la misma ubicación. La agrupación ayuda a cubrir esto y, sin embargo, identifica dónde está ‘ A </a:t>
            </a:r>
            <a:r>
              <a:rPr lang="es-CL" sz="1600" b="1">
                <a:solidFill>
                  <a:schemeClr val="lt1"/>
                </a:solidFill>
                <a:latin typeface="Calibri"/>
                <a:ea typeface="Calibri"/>
                <a:cs typeface="Calibri"/>
                <a:sym typeface="Calibri"/>
              </a:rPr>
              <a:t>‘. Este es un golpe maestro ya que ayuda a identificar cualquier imagen independientemente de cualquier posición</a:t>
            </a:r>
            <a:r>
              <a:rPr lang="es-CL"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p:txBody>
      </p:sp>
      <p:pic>
        <p:nvPicPr>
          <p:cNvPr id="612" name="Google Shape;612;p30"/>
          <p:cNvPicPr preferRelativeResize="0"/>
          <p:nvPr/>
        </p:nvPicPr>
        <p:blipFill rotWithShape="1">
          <a:blip r:embed="rId3">
            <a:alphaModFix/>
          </a:blip>
          <a:srcRect/>
          <a:stretch/>
        </p:blipFill>
        <p:spPr>
          <a:xfrm>
            <a:off x="4696816" y="2460306"/>
            <a:ext cx="2916381" cy="2357282"/>
          </a:xfrm>
          <a:prstGeom prst="rect">
            <a:avLst/>
          </a:prstGeom>
          <a:noFill/>
          <a:ln>
            <a:noFill/>
          </a:ln>
        </p:spPr>
      </p:pic>
      <p:pic>
        <p:nvPicPr>
          <p:cNvPr id="613" name="Google Shape;613;p30"/>
          <p:cNvPicPr preferRelativeResize="0"/>
          <p:nvPr/>
        </p:nvPicPr>
        <p:blipFill rotWithShape="1">
          <a:blip r:embed="rId4">
            <a:alphaModFix/>
          </a:blip>
          <a:srcRect/>
          <a:stretch/>
        </p:blipFill>
        <p:spPr>
          <a:xfrm>
            <a:off x="8371595" y="2460306"/>
            <a:ext cx="2971237" cy="2357282"/>
          </a:xfrm>
          <a:prstGeom prst="rect">
            <a:avLst/>
          </a:prstGeom>
          <a:noFill/>
          <a:ln>
            <a:noFill/>
          </a:ln>
        </p:spPr>
      </p:pic>
      <p:sp>
        <p:nvSpPr>
          <p:cNvPr id="614" name="Google Shape;614;p30"/>
          <p:cNvSpPr txBox="1"/>
          <p:nvPr/>
        </p:nvSpPr>
        <p:spPr>
          <a:xfrm>
            <a:off x="442662" y="4677074"/>
            <a:ext cx="11277900" cy="307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10"/>
                                        </p:tgtEl>
                                        <p:attrNameLst>
                                          <p:attrName>style.visibility</p:attrName>
                                        </p:attrNameLst>
                                      </p:cBhvr>
                                      <p:to>
                                        <p:strVal val="visible"/>
                                      </p:to>
                                    </p:set>
                                    <p:animEffect transition="in" filter="fade">
                                      <p:cBhvr>
                                        <p:cTn id="7" dur="500"/>
                                        <p:tgtEl>
                                          <p:spTgt spid="6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31"/>
          <p:cNvSpPr/>
          <p:nvPr/>
        </p:nvSpPr>
        <p:spPr>
          <a:xfrm>
            <a:off x="713550" y="1579475"/>
            <a:ext cx="10434600" cy="39741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0" name="Google Shape;620;p31"/>
          <p:cNvSpPr/>
          <p:nvPr/>
        </p:nvSpPr>
        <p:spPr>
          <a:xfrm>
            <a:off x="5791199" y="1700179"/>
            <a:ext cx="5216434" cy="3743255"/>
          </a:xfrm>
          <a:prstGeom prst="roundRect">
            <a:avLst>
              <a:gd name="adj" fmla="val 2971"/>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1" name="Google Shape;621;p31"/>
          <p:cNvSpPr txBox="1"/>
          <p:nvPr/>
        </p:nvSpPr>
        <p:spPr>
          <a:xfrm>
            <a:off x="713558" y="613376"/>
            <a:ext cx="10782300" cy="632574"/>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Aplanamiento de Capas</a:t>
            </a:r>
            <a:endParaRPr sz="3200">
              <a:solidFill>
                <a:srgbClr val="7F7F7F"/>
              </a:solidFill>
              <a:latin typeface="Arial"/>
              <a:ea typeface="Arial"/>
              <a:cs typeface="Arial"/>
              <a:sym typeface="Arial"/>
            </a:endParaRPr>
          </a:p>
        </p:txBody>
      </p:sp>
      <p:sp>
        <p:nvSpPr>
          <p:cNvPr id="622" name="Google Shape;622;p31"/>
          <p:cNvSpPr txBox="1"/>
          <p:nvPr/>
        </p:nvSpPr>
        <p:spPr>
          <a:xfrm>
            <a:off x="1063665" y="1700187"/>
            <a:ext cx="4397700" cy="30477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600">
                <a:solidFill>
                  <a:schemeClr val="lt1"/>
                </a:solidFill>
                <a:latin typeface="Calibri"/>
                <a:ea typeface="Calibri"/>
                <a:cs typeface="Calibri"/>
                <a:sym typeface="Calibri"/>
              </a:rPr>
              <a:t>Esta capa convierte una capa tridimensional en la red en un vector unidimensional para adaptarse a la entrada de una capa totalmente conectada para la clasificación. Por ejemplo, un tensor de 5x5x2 se convertiría en un vector de tamaño 50. Las capas convolucionales anteriores de la red extraían las características de la imagen de entrada, pero ahora es el momento de clasificar las características. Usamos la función softmax para clasificar estas características, lo que requiere una entrada unidimensional. Es por eso que la capa plana es necesaria.</a:t>
            </a:r>
            <a:endParaRPr/>
          </a:p>
        </p:txBody>
      </p:sp>
      <p:pic>
        <p:nvPicPr>
          <p:cNvPr id="623" name="Google Shape;623;p31" descr="Flattening and Full Connection Layers (Neural Networks)"/>
          <p:cNvPicPr preferRelativeResize="0"/>
          <p:nvPr/>
        </p:nvPicPr>
        <p:blipFill rotWithShape="1">
          <a:blip r:embed="rId3">
            <a:alphaModFix/>
          </a:blip>
          <a:srcRect l="12587" t="4179" r="12318" b="6085"/>
          <a:stretch/>
        </p:blipFill>
        <p:spPr>
          <a:xfrm>
            <a:off x="5947953" y="1829432"/>
            <a:ext cx="4824550" cy="340889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21"/>
                                        </p:tgtEl>
                                        <p:attrNameLst>
                                          <p:attrName>style.visibility</p:attrName>
                                        </p:attrNameLst>
                                      </p:cBhvr>
                                      <p:to>
                                        <p:strVal val="visible"/>
                                      </p:to>
                                    </p:set>
                                    <p:animEffect transition="in" filter="fade">
                                      <p:cBhvr>
                                        <p:cTn id="7" dur="500"/>
                                        <p:tgtEl>
                                          <p:spTgt spid="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32"/>
          <p:cNvSpPr/>
          <p:nvPr/>
        </p:nvSpPr>
        <p:spPr>
          <a:xfrm>
            <a:off x="754454" y="1124958"/>
            <a:ext cx="6288571" cy="4875396"/>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29" name="Google Shape;629;p32"/>
          <p:cNvSpPr txBox="1"/>
          <p:nvPr/>
        </p:nvSpPr>
        <p:spPr>
          <a:xfrm>
            <a:off x="851646" y="344115"/>
            <a:ext cx="10014227" cy="658438"/>
          </a:xfrm>
          <a:prstGeom prst="rect">
            <a:avLst/>
          </a:prstGeom>
          <a:noFill/>
          <a:ln>
            <a:noFill/>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es-CL" sz="3200">
                <a:solidFill>
                  <a:srgbClr val="7F7F7F"/>
                </a:solidFill>
                <a:latin typeface="Arial"/>
                <a:ea typeface="Arial"/>
                <a:cs typeface="Arial"/>
                <a:sym typeface="Arial"/>
              </a:rPr>
              <a:t>Funciones de Activación - ReLU</a:t>
            </a:r>
            <a:endParaRPr sz="3200">
              <a:solidFill>
                <a:srgbClr val="7F7F7F"/>
              </a:solidFill>
              <a:latin typeface="Arial"/>
              <a:ea typeface="Arial"/>
              <a:cs typeface="Arial"/>
              <a:sym typeface="Arial"/>
            </a:endParaRPr>
          </a:p>
        </p:txBody>
      </p:sp>
      <p:sp>
        <p:nvSpPr>
          <p:cNvPr id="630" name="Google Shape;630;p32"/>
          <p:cNvSpPr txBox="1"/>
          <p:nvPr/>
        </p:nvSpPr>
        <p:spPr>
          <a:xfrm>
            <a:off x="1336814" y="1240155"/>
            <a:ext cx="5123850" cy="455509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800" b="1">
                <a:solidFill>
                  <a:schemeClr val="lt1"/>
                </a:solidFill>
                <a:latin typeface="Calibri"/>
                <a:ea typeface="Calibri"/>
                <a:cs typeface="Calibri"/>
                <a:sym typeface="Calibri"/>
              </a:rPr>
              <a:t>ReLU</a:t>
            </a: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CL" sz="1600">
                <a:solidFill>
                  <a:schemeClr val="lt1"/>
                </a:solidFill>
                <a:latin typeface="Calibri"/>
                <a:ea typeface="Calibri"/>
                <a:cs typeface="Calibri"/>
                <a:sym typeface="Calibri"/>
              </a:rPr>
              <a:t>Parte de la razón por la que estas innovadoras CNN pueden lograr una precisión tan tremenda es por su </a:t>
            </a:r>
            <a:r>
              <a:rPr lang="es-CL" sz="1600" b="1">
                <a:solidFill>
                  <a:schemeClr val="lt1"/>
                </a:solidFill>
                <a:latin typeface="Calibri"/>
                <a:ea typeface="Calibri"/>
                <a:cs typeface="Calibri"/>
                <a:sym typeface="Calibri"/>
              </a:rPr>
              <a:t>no linealidad</a:t>
            </a:r>
            <a:r>
              <a:rPr lang="es-CL" sz="1600">
                <a:solidFill>
                  <a:schemeClr val="lt1"/>
                </a:solidFill>
                <a:latin typeface="Calibri"/>
                <a:ea typeface="Calibri"/>
                <a:cs typeface="Calibri"/>
                <a:sym typeface="Calibri"/>
              </a:rPr>
              <a:t>. ReLU aplica la no linealidad muy necesaria en el modelo. La no linealidad es necesaria para producir límites de decisión no lineales, de modo que la salida no se pueda escribir como una combinación lineal de las entradas. Si no estuviera presente una función de activación no lineal, las arquitecturas CNN profundas se convertirían en una sola capa convolucional equivalente, que no funcionaría tan bien.</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CL" sz="1600">
                <a:solidFill>
                  <a:schemeClr val="lt1"/>
                </a:solidFill>
                <a:latin typeface="Calibri"/>
                <a:ea typeface="Calibri"/>
                <a:cs typeface="Calibri"/>
                <a:sym typeface="Calibri"/>
              </a:rPr>
              <a:t>La función de activación de ReLU se usa específicamente como una función de activación no lineal, a diferencia de otras funciones no lineales como Sigmoid porque </a:t>
            </a:r>
            <a:r>
              <a:rPr lang="es-CL" sz="1600" b="1">
                <a:solidFill>
                  <a:schemeClr val="lt1"/>
                </a:solidFill>
                <a:latin typeface="Calibri"/>
                <a:ea typeface="Calibri"/>
                <a:cs typeface="Calibri"/>
                <a:sym typeface="Calibri"/>
              </a:rPr>
              <a:t>se ha observado empíricamente que las CNN que usan ReLU son más rápidas de entrenar que sus contrapartes</a:t>
            </a:r>
            <a:r>
              <a:rPr lang="es-CL" sz="1600">
                <a:solidFill>
                  <a:schemeClr val="lt1"/>
                </a:solidFill>
                <a:latin typeface="Calibri"/>
                <a:ea typeface="Calibri"/>
                <a:cs typeface="Calibri"/>
                <a:sym typeface="Calibri"/>
              </a:rPr>
              <a:t>.</a:t>
            </a:r>
            <a:endParaRPr sz="1600">
              <a:solidFill>
                <a:schemeClr val="lt1"/>
              </a:solidFill>
              <a:latin typeface="Arial"/>
              <a:ea typeface="Arial"/>
              <a:cs typeface="Arial"/>
              <a:sym typeface="Arial"/>
            </a:endParaRPr>
          </a:p>
        </p:txBody>
      </p:sp>
      <p:sp>
        <p:nvSpPr>
          <p:cNvPr id="631" name="Google Shape;631;p32"/>
          <p:cNvSpPr/>
          <p:nvPr/>
        </p:nvSpPr>
        <p:spPr>
          <a:xfrm>
            <a:off x="7479322" y="1240155"/>
            <a:ext cx="3968912" cy="4666733"/>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32" name="Google Shape;632;p32" descr="relu graph"/>
          <p:cNvPicPr preferRelativeResize="0"/>
          <p:nvPr/>
        </p:nvPicPr>
        <p:blipFill rotWithShape="1">
          <a:blip r:embed="rId3">
            <a:alphaModFix/>
          </a:blip>
          <a:srcRect/>
          <a:stretch/>
        </p:blipFill>
        <p:spPr>
          <a:xfrm>
            <a:off x="7924852" y="1663347"/>
            <a:ext cx="3077852" cy="3077852"/>
          </a:xfrm>
          <a:prstGeom prst="rect">
            <a:avLst/>
          </a:prstGeom>
          <a:noFill/>
          <a:ln>
            <a:noFill/>
          </a:ln>
        </p:spPr>
      </p:pic>
      <p:pic>
        <p:nvPicPr>
          <p:cNvPr id="633" name="Google Shape;633;p32"/>
          <p:cNvPicPr preferRelativeResize="0"/>
          <p:nvPr/>
        </p:nvPicPr>
        <p:blipFill rotWithShape="1">
          <a:blip r:embed="rId4">
            <a:alphaModFix/>
          </a:blip>
          <a:srcRect/>
          <a:stretch/>
        </p:blipFill>
        <p:spPr>
          <a:xfrm>
            <a:off x="8308345" y="5164391"/>
            <a:ext cx="2543530" cy="50489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29"/>
                                        </p:tgtEl>
                                        <p:attrNameLst>
                                          <p:attrName>style.visibility</p:attrName>
                                        </p:attrNameLst>
                                      </p:cBhvr>
                                      <p:to>
                                        <p:strVal val="visible"/>
                                      </p:to>
                                    </p:set>
                                    <p:animEffect transition="in" filter="fade">
                                      <p:cBhvr>
                                        <p:cTn id="7" dur="500"/>
                                        <p:tgtEl>
                                          <p:spTgt spid="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33"/>
          <p:cNvSpPr/>
          <p:nvPr/>
        </p:nvSpPr>
        <p:spPr>
          <a:xfrm>
            <a:off x="652175" y="1579475"/>
            <a:ext cx="6586500" cy="40863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9" name="Google Shape;639;p33"/>
          <p:cNvSpPr txBox="1"/>
          <p:nvPr/>
        </p:nvSpPr>
        <p:spPr>
          <a:xfrm>
            <a:off x="605137" y="471773"/>
            <a:ext cx="10782300" cy="737118"/>
          </a:xfrm>
          <a:prstGeom prst="rect">
            <a:avLst/>
          </a:prstGeom>
          <a:noFill/>
          <a:ln>
            <a:noFill/>
          </a:ln>
        </p:spPr>
        <p:txBody>
          <a:bodyPr spcFirstLastPara="1" wrap="square" lIns="91425" tIns="45700" rIns="91425" bIns="45700" anchor="ctr" anchorCtr="0">
            <a:noAutofit/>
          </a:bodyPr>
          <a:lstStyle/>
          <a:p>
            <a:pPr marL="0" marR="0" lvl="0" indent="0" algn="just" rtl="0">
              <a:lnSpc>
                <a:spcPct val="150000"/>
              </a:lnSpc>
              <a:spcBef>
                <a:spcPts val="0"/>
              </a:spcBef>
              <a:spcAft>
                <a:spcPts val="0"/>
              </a:spcAft>
              <a:buNone/>
            </a:pPr>
            <a:r>
              <a:rPr lang="es-CL" sz="3200">
                <a:solidFill>
                  <a:srgbClr val="7F7F7F"/>
                </a:solidFill>
                <a:latin typeface="Arial"/>
                <a:ea typeface="Arial"/>
                <a:cs typeface="Arial"/>
                <a:sym typeface="Arial"/>
              </a:rPr>
              <a:t>Funciones de Activación - Softmax</a:t>
            </a:r>
            <a:endParaRPr sz="3200">
              <a:solidFill>
                <a:srgbClr val="7F7F7F"/>
              </a:solidFill>
              <a:latin typeface="Arial"/>
              <a:ea typeface="Arial"/>
              <a:cs typeface="Arial"/>
              <a:sym typeface="Arial"/>
            </a:endParaRPr>
          </a:p>
        </p:txBody>
      </p:sp>
      <p:sp>
        <p:nvSpPr>
          <p:cNvPr id="640" name="Google Shape;640;p33"/>
          <p:cNvSpPr txBox="1"/>
          <p:nvPr/>
        </p:nvSpPr>
        <p:spPr>
          <a:xfrm>
            <a:off x="890207" y="1703180"/>
            <a:ext cx="5960111" cy="381642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1800" b="1">
                <a:solidFill>
                  <a:schemeClr val="lt1"/>
                </a:solidFill>
                <a:latin typeface="Calibri"/>
                <a:ea typeface="Calibri"/>
                <a:cs typeface="Calibri"/>
                <a:sym typeface="Calibri"/>
              </a:rPr>
              <a:t>Softmax</a:t>
            </a:r>
            <a:endParaRPr sz="1800" b="1">
              <a:solidFill>
                <a:schemeClr val="lt1"/>
              </a:solidFill>
              <a:latin typeface="Calibri"/>
              <a:ea typeface="Calibri"/>
              <a:cs typeface="Calibri"/>
              <a:sym typeface="Calibri"/>
            </a:endParaRPr>
          </a:p>
          <a:p>
            <a:pPr marL="0" marR="0" lvl="0" indent="0" algn="just" rtl="0">
              <a:spcBef>
                <a:spcPts val="0"/>
              </a:spcBef>
              <a:spcAft>
                <a:spcPts val="0"/>
              </a:spcAft>
              <a:buNone/>
            </a:pPr>
            <a:endParaRPr sz="1600" b="1">
              <a:solidFill>
                <a:schemeClr val="lt1"/>
              </a:solidFill>
              <a:latin typeface="Calibri"/>
              <a:ea typeface="Calibri"/>
              <a:cs typeface="Calibri"/>
              <a:sym typeface="Calibri"/>
            </a:endParaRPr>
          </a:p>
          <a:p>
            <a:pPr marL="0" marR="0" lvl="0" indent="0" algn="just" rtl="0">
              <a:spcBef>
                <a:spcPts val="0"/>
              </a:spcBef>
              <a:spcAft>
                <a:spcPts val="0"/>
              </a:spcAft>
              <a:buNone/>
            </a:pPr>
            <a:r>
              <a:rPr lang="es-CL" sz="1600">
                <a:solidFill>
                  <a:schemeClr val="lt1"/>
                </a:solidFill>
                <a:latin typeface="Calibri"/>
                <a:ea typeface="Calibri"/>
                <a:cs typeface="Calibri"/>
                <a:sym typeface="Calibri"/>
              </a:rPr>
              <a:t>Una operación softmax tiene un propósito clave: asegurarse de que las salidas de la CNN sumen 1. Debido a esto, las operaciones softmax son útiles para </a:t>
            </a:r>
            <a:r>
              <a:rPr lang="es-CL" sz="1600" b="1">
                <a:solidFill>
                  <a:schemeClr val="lt1"/>
                </a:solidFill>
                <a:latin typeface="Calibri"/>
                <a:ea typeface="Calibri"/>
                <a:cs typeface="Calibri"/>
                <a:sym typeface="Calibri"/>
              </a:rPr>
              <a:t>escalar las salidas del modelo en probabilidades</a:t>
            </a:r>
            <a:r>
              <a:rPr lang="es-CL" sz="1600">
                <a:solidFill>
                  <a:schemeClr val="lt1"/>
                </a:solidFill>
                <a:latin typeface="Calibri"/>
                <a:ea typeface="Calibri"/>
                <a:cs typeface="Calibri"/>
                <a:sym typeface="Calibri"/>
              </a:rPr>
              <a:t>.</a:t>
            </a:r>
            <a:endParaRPr/>
          </a:p>
          <a:p>
            <a:pPr marL="0" marR="0" lvl="0" indent="0" algn="just" rtl="0">
              <a:spcBef>
                <a:spcPts val="0"/>
              </a:spcBef>
              <a:spcAft>
                <a:spcPts val="0"/>
              </a:spcAft>
              <a:buNone/>
            </a:pPr>
            <a:endParaRPr sz="1600">
              <a:solidFill>
                <a:schemeClr val="lt1"/>
              </a:solidFill>
              <a:latin typeface="Calibri"/>
              <a:ea typeface="Calibri"/>
              <a:cs typeface="Calibri"/>
              <a:sym typeface="Calibri"/>
            </a:endParaRPr>
          </a:p>
          <a:p>
            <a:pPr marL="0" marR="0" lvl="0" indent="0" algn="just" rtl="0">
              <a:spcBef>
                <a:spcPts val="0"/>
              </a:spcBef>
              <a:spcAft>
                <a:spcPts val="0"/>
              </a:spcAft>
              <a:buNone/>
            </a:pPr>
            <a:r>
              <a:rPr lang="es-CL" sz="1600">
                <a:solidFill>
                  <a:schemeClr val="lt1"/>
                </a:solidFill>
                <a:latin typeface="Calibri"/>
                <a:ea typeface="Calibri"/>
                <a:cs typeface="Calibri"/>
                <a:sym typeface="Calibri"/>
              </a:rPr>
              <a:t>Quizás esté pensando cuál es la diferencia entre la normalización estándar y softmax; después de todo, ambos reescalan los logits entre 0 y 1. Recuerde que la retropropagación es un aspecto clave del entrenamiento de redes neuronales: queremos que la respuesta correcta tenga la "señal" más grande. ” Al usar softmax, estamos "aproximando" efectivamente a argmax mientras ganamos diferenciabilidad. El cambio de escala no pesa el máximo significativamente más que otros logits, mientras que softmax sí lo hace. En pocas palabras, softmax es un argmax "más suave“.</a:t>
            </a:r>
            <a:endParaRPr sz="1600">
              <a:solidFill>
                <a:schemeClr val="lt1"/>
              </a:solidFill>
              <a:latin typeface="Arial"/>
              <a:ea typeface="Arial"/>
              <a:cs typeface="Arial"/>
              <a:sym typeface="Arial"/>
            </a:endParaRPr>
          </a:p>
        </p:txBody>
      </p:sp>
      <p:sp>
        <p:nvSpPr>
          <p:cNvPr id="641" name="Google Shape;641;p33"/>
          <p:cNvSpPr/>
          <p:nvPr/>
        </p:nvSpPr>
        <p:spPr>
          <a:xfrm>
            <a:off x="7540750" y="1579475"/>
            <a:ext cx="4159200" cy="4086300"/>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642" name="Google Shape;642;p33"/>
          <p:cNvPicPr preferRelativeResize="0"/>
          <p:nvPr/>
        </p:nvPicPr>
        <p:blipFill rotWithShape="1">
          <a:blip r:embed="rId3">
            <a:alphaModFix/>
          </a:blip>
          <a:srcRect/>
          <a:stretch/>
        </p:blipFill>
        <p:spPr>
          <a:xfrm>
            <a:off x="7891274" y="2881236"/>
            <a:ext cx="3496163" cy="10955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39"/>
                                        </p:tgtEl>
                                        <p:attrNameLst>
                                          <p:attrName>style.visibility</p:attrName>
                                        </p:attrNameLst>
                                      </p:cBhvr>
                                      <p:to>
                                        <p:strVal val="visible"/>
                                      </p:to>
                                    </p:set>
                                    <p:animEffect transition="in" filter="fade">
                                      <p:cBhvr>
                                        <p:cTn id="7" dur="500"/>
                                        <p:tgtEl>
                                          <p:spTgt spid="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34"/>
          <p:cNvSpPr/>
          <p:nvPr/>
        </p:nvSpPr>
        <p:spPr>
          <a:xfrm>
            <a:off x="643900" y="2400025"/>
            <a:ext cx="10713000" cy="3546000"/>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8" name="Google Shape;648;p34"/>
          <p:cNvSpPr txBox="1"/>
          <p:nvPr/>
        </p:nvSpPr>
        <p:spPr>
          <a:xfrm>
            <a:off x="725562" y="521892"/>
            <a:ext cx="10761600" cy="731100"/>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Arquitectura CNN</a:t>
            </a:r>
            <a:endParaRPr/>
          </a:p>
        </p:txBody>
      </p:sp>
      <p:sp>
        <p:nvSpPr>
          <p:cNvPr id="649" name="Google Shape;649;p34"/>
          <p:cNvSpPr/>
          <p:nvPr/>
        </p:nvSpPr>
        <p:spPr>
          <a:xfrm>
            <a:off x="-98612" y="1341586"/>
            <a:ext cx="12412500" cy="731100"/>
          </a:xfrm>
          <a:prstGeom prst="roundRect">
            <a:avLst>
              <a:gd name="adj" fmla="val 2971"/>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0" name="Google Shape;650;p34"/>
          <p:cNvSpPr txBox="1"/>
          <p:nvPr/>
        </p:nvSpPr>
        <p:spPr>
          <a:xfrm>
            <a:off x="725562" y="1505573"/>
            <a:ext cx="8639400" cy="4002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s-CL" sz="2000" b="1">
                <a:solidFill>
                  <a:schemeClr val="lt1"/>
                </a:solidFill>
                <a:latin typeface="Calibri"/>
                <a:ea typeface="Calibri"/>
                <a:cs typeface="Calibri"/>
                <a:sym typeface="Calibri"/>
              </a:rPr>
              <a:t>A continuación, un esquema completo de la arquitectura CNN:</a:t>
            </a:r>
            <a:endParaRPr sz="2000" b="1">
              <a:solidFill>
                <a:schemeClr val="lt1"/>
              </a:solidFill>
              <a:latin typeface="Calibri"/>
              <a:ea typeface="Calibri"/>
              <a:cs typeface="Calibri"/>
              <a:sym typeface="Calibri"/>
            </a:endParaRPr>
          </a:p>
        </p:txBody>
      </p:sp>
      <p:grpSp>
        <p:nvGrpSpPr>
          <p:cNvPr id="651" name="Google Shape;651;p34"/>
          <p:cNvGrpSpPr/>
          <p:nvPr/>
        </p:nvGrpSpPr>
        <p:grpSpPr>
          <a:xfrm>
            <a:off x="1219200" y="2618849"/>
            <a:ext cx="9753600" cy="3109916"/>
            <a:chOff x="1219200" y="2243699"/>
            <a:chExt cx="9753600" cy="3109916"/>
          </a:xfrm>
        </p:grpSpPr>
        <p:pic>
          <p:nvPicPr>
            <p:cNvPr id="652" name="Google Shape;652;p34" descr="cnn1"/>
            <p:cNvPicPr preferRelativeResize="0"/>
            <p:nvPr/>
          </p:nvPicPr>
          <p:blipFill rotWithShape="1">
            <a:blip r:embed="rId3">
              <a:alphaModFix/>
            </a:blip>
            <a:srcRect b="7633"/>
            <a:stretch/>
          </p:blipFill>
          <p:spPr>
            <a:xfrm>
              <a:off x="1219200" y="2243699"/>
              <a:ext cx="9753600" cy="2771362"/>
            </a:xfrm>
            <a:prstGeom prst="rect">
              <a:avLst/>
            </a:prstGeom>
            <a:noFill/>
            <a:ln>
              <a:noFill/>
            </a:ln>
          </p:spPr>
        </p:pic>
        <p:sp>
          <p:nvSpPr>
            <p:cNvPr id="653" name="Google Shape;653;p34"/>
            <p:cNvSpPr txBox="1"/>
            <p:nvPr/>
          </p:nvSpPr>
          <p:spPr>
            <a:xfrm>
              <a:off x="2686640" y="5006461"/>
              <a:ext cx="121007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600">
                  <a:solidFill>
                    <a:schemeClr val="dk1"/>
                  </a:solidFill>
                  <a:latin typeface="Calibri"/>
                  <a:ea typeface="Calibri"/>
                  <a:cs typeface="Calibri"/>
                  <a:sym typeface="Calibri"/>
                </a:rPr>
                <a:t>Convolución</a:t>
              </a:r>
              <a:endParaRPr/>
            </a:p>
          </p:txBody>
        </p:sp>
        <p:sp>
          <p:nvSpPr>
            <p:cNvPr id="654" name="Google Shape;654;p34"/>
            <p:cNvSpPr txBox="1"/>
            <p:nvPr/>
          </p:nvSpPr>
          <p:spPr>
            <a:xfrm>
              <a:off x="5553959" y="5006461"/>
              <a:ext cx="80092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600">
                  <a:solidFill>
                    <a:schemeClr val="dk1"/>
                  </a:solidFill>
                  <a:latin typeface="Calibri"/>
                  <a:ea typeface="Calibri"/>
                  <a:cs typeface="Calibri"/>
                  <a:sym typeface="Calibri"/>
                </a:rPr>
                <a:t>Pooling</a:t>
              </a:r>
              <a:endParaRPr sz="1600">
                <a:solidFill>
                  <a:schemeClr val="dk1"/>
                </a:solidFill>
                <a:latin typeface="Calibri"/>
                <a:ea typeface="Calibri"/>
                <a:cs typeface="Calibri"/>
                <a:sym typeface="Calibri"/>
              </a:endParaRPr>
            </a:p>
          </p:txBody>
        </p:sp>
        <p:sp>
          <p:nvSpPr>
            <p:cNvPr id="655" name="Google Shape;655;p34"/>
            <p:cNvSpPr txBox="1"/>
            <p:nvPr/>
          </p:nvSpPr>
          <p:spPr>
            <a:xfrm>
              <a:off x="6956982" y="5015061"/>
              <a:ext cx="121007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600">
                  <a:solidFill>
                    <a:schemeClr val="dk1"/>
                  </a:solidFill>
                  <a:latin typeface="Calibri"/>
                  <a:ea typeface="Calibri"/>
                  <a:cs typeface="Calibri"/>
                  <a:sym typeface="Calibri"/>
                </a:rPr>
                <a:t>Convolución</a:t>
              </a:r>
              <a:endParaRPr/>
            </a:p>
          </p:txBody>
        </p:sp>
        <p:sp>
          <p:nvSpPr>
            <p:cNvPr id="656" name="Google Shape;656;p34"/>
            <p:cNvSpPr txBox="1"/>
            <p:nvPr/>
          </p:nvSpPr>
          <p:spPr>
            <a:xfrm>
              <a:off x="8563950" y="5015061"/>
              <a:ext cx="80092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600">
                  <a:solidFill>
                    <a:schemeClr val="dk1"/>
                  </a:solidFill>
                  <a:latin typeface="Calibri"/>
                  <a:ea typeface="Calibri"/>
                  <a:cs typeface="Calibri"/>
                  <a:sym typeface="Calibri"/>
                </a:rPr>
                <a:t>Pooling</a:t>
              </a:r>
              <a:endParaRPr sz="1600">
                <a:solidFill>
                  <a:schemeClr val="dk1"/>
                </a:solidFill>
                <a:latin typeface="Calibri"/>
                <a:ea typeface="Calibri"/>
                <a:cs typeface="Calibri"/>
                <a:sym typeface="Calibri"/>
              </a:endParaRPr>
            </a:p>
          </p:txBody>
        </p:sp>
        <p:sp>
          <p:nvSpPr>
            <p:cNvPr id="657" name="Google Shape;657;p34"/>
            <p:cNvSpPr txBox="1"/>
            <p:nvPr/>
          </p:nvSpPr>
          <p:spPr>
            <a:xfrm>
              <a:off x="9505360" y="5006461"/>
              <a:ext cx="142378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600">
                  <a:solidFill>
                    <a:schemeClr val="dk1"/>
                  </a:solidFill>
                  <a:latin typeface="Calibri"/>
                  <a:ea typeface="Calibri"/>
                  <a:cs typeface="Calibri"/>
                  <a:sym typeface="Calibri"/>
                </a:rPr>
                <a:t>Capa Aplanada</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8"/>
                                        </p:tgtEl>
                                        <p:attrNameLst>
                                          <p:attrName>style.visibility</p:attrName>
                                        </p:attrNameLst>
                                      </p:cBhvr>
                                      <p:to>
                                        <p:strVal val="visible"/>
                                      </p:to>
                                    </p:set>
                                    <p:animEffect transition="in" filter="fade">
                                      <p:cBhvr>
                                        <p:cTn id="7" dur="500"/>
                                        <p:tgtEl>
                                          <p:spTgt spid="6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35"/>
          <p:cNvSpPr/>
          <p:nvPr/>
        </p:nvSpPr>
        <p:spPr>
          <a:xfrm>
            <a:off x="1193076" y="1223025"/>
            <a:ext cx="9753598" cy="4951351"/>
          </a:xfrm>
          <a:prstGeom prst="roundRect">
            <a:avLst>
              <a:gd name="adj" fmla="val 2971"/>
            </a:avLst>
          </a:prstGeom>
          <a:solidFill>
            <a:schemeClr val="lt1"/>
          </a:solidFill>
          <a:ln w="38100" cap="flat" cmpd="sng">
            <a:solidFill>
              <a:srgbClr val="7F7F7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3" name="Google Shape;663;p35"/>
          <p:cNvSpPr txBox="1"/>
          <p:nvPr/>
        </p:nvSpPr>
        <p:spPr>
          <a:xfrm>
            <a:off x="1193076" y="491870"/>
            <a:ext cx="10363742" cy="731156"/>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None/>
            </a:pPr>
            <a:r>
              <a:rPr lang="es-CL" sz="3200">
                <a:solidFill>
                  <a:srgbClr val="7F7F7F"/>
                </a:solidFill>
                <a:latin typeface="Arial"/>
                <a:ea typeface="Arial"/>
                <a:cs typeface="Arial"/>
                <a:sym typeface="Arial"/>
              </a:rPr>
              <a:t>Playground</a:t>
            </a:r>
            <a:endParaRPr sz="3200">
              <a:solidFill>
                <a:srgbClr val="7F7F7F"/>
              </a:solidFill>
              <a:latin typeface="Arial"/>
              <a:ea typeface="Arial"/>
              <a:cs typeface="Arial"/>
              <a:sym typeface="Arial"/>
            </a:endParaRPr>
          </a:p>
        </p:txBody>
      </p:sp>
      <p:pic>
        <p:nvPicPr>
          <p:cNvPr id="664" name="Google Shape;664;p35"/>
          <p:cNvPicPr preferRelativeResize="0"/>
          <p:nvPr/>
        </p:nvPicPr>
        <p:blipFill rotWithShape="1">
          <a:blip r:embed="rId3">
            <a:alphaModFix/>
          </a:blip>
          <a:srcRect/>
          <a:stretch/>
        </p:blipFill>
        <p:spPr>
          <a:xfrm>
            <a:off x="1648703" y="1404771"/>
            <a:ext cx="8842342" cy="4160272"/>
          </a:xfrm>
          <a:prstGeom prst="rect">
            <a:avLst/>
          </a:prstGeom>
          <a:noFill/>
          <a:ln w="9525" cap="flat" cmpd="sng">
            <a:solidFill>
              <a:srgbClr val="7F7F7F"/>
            </a:solidFill>
            <a:prstDash val="solid"/>
            <a:round/>
            <a:headEnd type="none" w="sm" len="sm"/>
            <a:tailEnd type="none" w="sm" len="sm"/>
          </a:ln>
        </p:spPr>
      </p:pic>
      <p:sp>
        <p:nvSpPr>
          <p:cNvPr id="665" name="Google Shape;665;p35"/>
          <p:cNvSpPr txBox="1"/>
          <p:nvPr/>
        </p:nvSpPr>
        <p:spPr>
          <a:xfrm>
            <a:off x="1648703" y="5700432"/>
            <a:ext cx="8842200" cy="307800"/>
          </a:xfrm>
          <a:prstGeom prst="rect">
            <a:avLst/>
          </a:prstGeom>
          <a:solidFill>
            <a:srgbClr val="F2F2F2"/>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a:solidFill>
                  <a:srgbClr val="7F7F7F"/>
                </a:solidFill>
                <a:latin typeface="Calibri"/>
                <a:ea typeface="Calibri"/>
                <a:cs typeface="Calibri"/>
                <a:sym typeface="Calibri"/>
              </a:rPr>
              <a:t>https://poloclub.github.io/cnn-explainer/</a:t>
            </a:r>
            <a:endParaRPr sz="1200">
              <a:solidFill>
                <a:srgbClr val="7F7F7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63"/>
                                        </p:tgtEl>
                                        <p:attrNameLst>
                                          <p:attrName>style.visibility</p:attrName>
                                        </p:attrNameLst>
                                      </p:cBhvr>
                                      <p:to>
                                        <p:strVal val="visible"/>
                                      </p:to>
                                    </p:set>
                                    <p:animEffect transition="in" filter="fade">
                                      <p:cBhvr>
                                        <p:cTn id="7" dur="500"/>
                                        <p:tgtEl>
                                          <p:spTgt spid="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36"/>
          <p:cNvSpPr/>
          <p:nvPr/>
        </p:nvSpPr>
        <p:spPr>
          <a:xfrm>
            <a:off x="-69669" y="3057041"/>
            <a:ext cx="7284946" cy="1045333"/>
          </a:xfrm>
          <a:prstGeom prst="roundRect">
            <a:avLst>
              <a:gd name="adj" fmla="val 9640"/>
            </a:avLst>
          </a:prstGeom>
          <a:gradFill>
            <a:gsLst>
              <a:gs pos="0">
                <a:srgbClr val="975E08"/>
              </a:gs>
              <a:gs pos="50000">
                <a:srgbClr val="DA880C"/>
              </a:gs>
              <a:gs pos="100000">
                <a:srgbClr val="FFA40F"/>
              </a:gs>
            </a:gsLst>
            <a:lin ang="27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1" i="0" u="none" strike="noStrike" cap="none">
              <a:solidFill>
                <a:srgbClr val="008CAD"/>
              </a:solidFill>
              <a:latin typeface="Calibri"/>
              <a:ea typeface="Calibri"/>
              <a:cs typeface="Calibri"/>
              <a:sym typeface="Calibri"/>
            </a:endParaRPr>
          </a:p>
        </p:txBody>
      </p:sp>
      <p:sp>
        <p:nvSpPr>
          <p:cNvPr id="671" name="Google Shape;671;p36"/>
          <p:cNvSpPr txBox="1"/>
          <p:nvPr/>
        </p:nvSpPr>
        <p:spPr>
          <a:xfrm>
            <a:off x="2768633" y="2835053"/>
            <a:ext cx="4446644" cy="148930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600"/>
              <a:buFont typeface="Arial"/>
              <a:buNone/>
            </a:pPr>
            <a:r>
              <a:rPr lang="es-CL" sz="3600" b="0" i="0" u="none" strike="noStrike" cap="none">
                <a:solidFill>
                  <a:srgbClr val="FFFFFF"/>
                </a:solidFill>
                <a:latin typeface="Arial"/>
                <a:ea typeface="Arial"/>
                <a:cs typeface="Arial"/>
                <a:sym typeface="Arial"/>
              </a:rPr>
              <a:t>Dudas y consultas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1"/>
                                        </p:tgtEl>
                                        <p:attrNameLst>
                                          <p:attrName>style.visibility</p:attrName>
                                        </p:attrNameLst>
                                      </p:cBhvr>
                                      <p:to>
                                        <p:strVal val="visible"/>
                                      </p:to>
                                    </p:set>
                                    <p:animEffect transition="in" filter="fade">
                                      <p:cBhvr>
                                        <p:cTn id="7" dur="500"/>
                                        <p:tgtEl>
                                          <p:spTgt spid="6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37"/>
          <p:cNvSpPr txBox="1"/>
          <p:nvPr/>
        </p:nvSpPr>
        <p:spPr>
          <a:xfrm>
            <a:off x="475933" y="2794329"/>
            <a:ext cx="10782300" cy="1008062"/>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3600"/>
              <a:buFont typeface="Arial"/>
              <a:buNone/>
            </a:pPr>
            <a:r>
              <a:rPr lang="es-CL" sz="3600" b="0" i="0" u="none" strike="noStrike" cap="none">
                <a:solidFill>
                  <a:srgbClr val="7F7F7F"/>
                </a:solidFill>
                <a:latin typeface="Arial"/>
                <a:ea typeface="Arial"/>
                <a:cs typeface="Arial"/>
                <a:sym typeface="Arial"/>
              </a:rPr>
              <a:t>Fin Presentación</a:t>
            </a:r>
            <a:endParaRPr sz="3600" b="0" i="0" u="none" strike="noStrike" cap="none">
              <a:solidFill>
                <a:srgbClr val="7F7F7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76"/>
                                        </p:tgtEl>
                                        <p:attrNameLst>
                                          <p:attrName>style.visibility</p:attrName>
                                        </p:attrNameLst>
                                      </p:cBhvr>
                                      <p:to>
                                        <p:strVal val="visible"/>
                                      </p:to>
                                    </p:set>
                                    <p:animEffect transition="in" filter="fade">
                                      <p:cBhvr>
                                        <p:cTn id="7" dur="500"/>
                                        <p:tgtEl>
                                          <p:spTgt spid="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2214</Words>
  <Application>Microsoft Macintosh PowerPoint</Application>
  <PresentationFormat>Panorámica</PresentationFormat>
  <Paragraphs>590</Paragraphs>
  <Slides>37</Slides>
  <Notes>37</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37</vt:i4>
      </vt:variant>
    </vt:vector>
  </HeadingPairs>
  <TitlesOfParts>
    <vt:vector size="42" baseType="lpstr">
      <vt:lpstr>Arial</vt:lpstr>
      <vt:lpstr>Calibri</vt:lpstr>
      <vt:lpstr>Noto Sans Symbols</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Kibernum</dc:creator>
  <cp:lastModifiedBy>Silvia Salinas</cp:lastModifiedBy>
  <cp:revision>1</cp:revision>
  <dcterms:created xsi:type="dcterms:W3CDTF">2023-01-03T12:28:26Z</dcterms:created>
  <dcterms:modified xsi:type="dcterms:W3CDTF">2026-03-21T01:15:10Z</dcterms:modified>
</cp:coreProperties>
</file>